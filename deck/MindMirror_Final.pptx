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c165b1c-85a5-40f7-01f5-357c11a6c462}">
          <p14:sldIdLst>
            <p14:sldId id="256"/>
          </p14:sldIdLst>
        </p14:section>
        <p14:section name="Problem and solution" id="{fca65a05-a633-6157-0c24-37dfdd35ca26}">
          <p14:sldIdLst>
            <p14:sldId id="257"/>
            <p14:sldId id="258"/>
          </p14:sldIdLst>
        </p14:section>
        <p14:section name="How it works" id="{b3a5d733-0880-1ed3-1c32-b29a2df454be}">
          <p14:sldIdLst>
            <p14:sldId id="259"/>
            <p14:sldId id="260"/>
          </p14:sldIdLst>
        </p14:section>
        <p14:section name="The AI necklace" id="{1bdf43d1-2b31-5c4b-adfc-63546bb6661b}">
          <p14:sldIdLst>
            <p14:sldId id="261"/>
          </p14:sldIdLst>
        </p14:section>
        <p14:section name="Calm tools and trust" id="{e8c95c37-9f01-61c0-4607-28137ccca539}">
          <p14:sldIdLst>
            <p14:sldId id="262"/>
            <p14:sldId id="263"/>
          </p14:sldIdLst>
        </p14:section>
        <p14:section name="Demo" id="{1256b84e-d48a-4b06-dd9d-33033194381f}">
          <p14:sldIdLst>
            <p14:sldId id="264"/>
          </p14:sldIdLst>
        </p14:section>
        <p14:section name="Build and team" id="{7e1d4faf-2673-b97f-eca0-133ad4317fdf}">
          <p14:sldIdLst>
            <p14:sldId id="265"/>
            <p14:sldId id="266"/>
            <p14:sldId id="267"/>
          </p14:sldIdLst>
        </p14:section>
        <p14:section name="Closing" id="{720e5994-d468-36f3-10ea-756d6b64ca8b}">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D42"/>
                </a:solidFill>
                <a:latin typeface="+mn-lt"/>
              </a:defRPr>
            </a:pPr>
            <a:r>
              <a:rPr sz="1400" b="0" i="0" u="none" strike="noStrike">
                <a:solidFill>
                  <a:srgbClr val="2B2D42"/>
                </a:solidFill>
                <a:latin typeface="+mn-lt"/>
              </a:rPr>
              <a:t>Asha's sleep over 3 weeks (sample data)</a:t>
            </a:r>
          </a:p>
        </c:rich>
      </c:tx>
      <c:layout/>
      <c:overlay val="0"/>
    </c:title>
    <c:autoTitleDeleted val="0"/>
    <c:plotArea>
      <c:layout/>
      <c:lineChart>
        <c:varyColors val="0"/>
        <c:ser>
          <c:idx val="0"/>
          <c:order val="0"/>
          <c:tx>
            <c:strRef>
              <c:f>Sheet1!$B$1</c:f>
              <c:strCache>
                <c:ptCount val="1"/>
                <c:pt idx="0">
                  <c:v>Sleep (hours)</c:v>
                </c:pt>
              </c:strCache>
            </c:strRef>
          </c:tx>
          <c:spPr>
            <a:solidFill>
              <a:srgbClr val="4F5BD5"/>
            </a:solidFill>
            <a:ln w="38100" cap="flat">
              <a:solidFill>
                <a:srgbClr val="4F5BD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F5BD5"/>
              </a:solidFill>
              <a:ln w="9525" cap="flat">
                <a:solidFill>
                  <a:srgbClr val="4F5BD5"/>
                </a:solidFill>
                <a:prstDash val="solid"/>
                <a:round/>
              </a:ln>
              <a:effectLst/>
            </c:spPr>
          </c:marker>
          <c:cat>
            <c:multiLvlStrRef>
              <c:f>Sheet1!$A$2:$A$22</c:f>
              <c:multiLvlStrCache>
                <c:ptCount val="21"/>
                <c:lvl>
                  <c:pt idx="0">
                    <c:v>D1</c:v>
                  </c:pt>
                  <c:pt idx="1">
                    <c:v>D2</c:v>
                  </c:pt>
                  <c:pt idx="2">
                    <c:v>D3</c:v>
                  </c:pt>
                  <c:pt idx="3">
                    <c:v>D4</c:v>
                  </c:pt>
                  <c:pt idx="4">
                    <c:v>D5</c:v>
                  </c:pt>
                  <c:pt idx="5">
                    <c:v>D6</c:v>
                  </c:pt>
                  <c:pt idx="6">
                    <c:v>D7</c:v>
                  </c:pt>
                  <c:pt idx="7">
                    <c:v>D8</c:v>
                  </c:pt>
                  <c:pt idx="8">
                    <c:v>D9</c:v>
                  </c:pt>
                  <c:pt idx="9">
                    <c:v>D10</c:v>
                  </c:pt>
                  <c:pt idx="10">
                    <c:v>D11</c:v>
                  </c:pt>
                  <c:pt idx="11">
                    <c:v>D12</c:v>
                  </c:pt>
                  <c:pt idx="12">
                    <c:v>D13</c:v>
                  </c:pt>
                  <c:pt idx="13">
                    <c:v>D14</c:v>
                  </c:pt>
                  <c:pt idx="14">
                    <c:v>D15</c:v>
                  </c:pt>
                  <c:pt idx="15">
                    <c:v>D16</c:v>
                  </c:pt>
                  <c:pt idx="16">
                    <c:v>D17</c:v>
                  </c:pt>
                  <c:pt idx="17">
                    <c:v>D18</c:v>
                  </c:pt>
                  <c:pt idx="18">
                    <c:v>D19</c:v>
                  </c:pt>
                  <c:pt idx="19">
                    <c:v>D20</c:v>
                  </c:pt>
                  <c:pt idx="20">
                    <c:v>D21</c:v>
                  </c:pt>
                </c:lvl>
              </c:multiLvlStrCache>
            </c:multiLvlStrRef>
          </c:cat>
          <c:val>
            <c:numRef>
              <c:f>Sheet1!$B$2:$B$22</c:f>
              <c:numCache>
                <c:formatCode>General</c:formatCode>
                <c:ptCount val="21"/>
                <c:pt idx="0">
                  <c:v>7.2</c:v>
                </c:pt>
                <c:pt idx="1">
                  <c:v>6.9</c:v>
                </c:pt>
                <c:pt idx="2">
                  <c:v>7.1</c:v>
                </c:pt>
                <c:pt idx="3">
                  <c:v>7.4</c:v>
                </c:pt>
                <c:pt idx="4">
                  <c:v>6.8</c:v>
                </c:pt>
                <c:pt idx="5">
                  <c:v>7</c:v>
                </c:pt>
                <c:pt idx="6">
                  <c:v>7.3</c:v>
                </c:pt>
                <c:pt idx="7">
                  <c:v>7.1</c:v>
                </c:pt>
                <c:pt idx="8">
                  <c:v>6.9</c:v>
                </c:pt>
                <c:pt idx="9">
                  <c:v>7</c:v>
                </c:pt>
                <c:pt idx="10">
                  <c:v>7.2</c:v>
                </c:pt>
                <c:pt idx="11">
                  <c:v>6.8</c:v>
                </c:pt>
                <c:pt idx="12">
                  <c:v>7.1</c:v>
                </c:pt>
                <c:pt idx="13">
                  <c:v>6.6</c:v>
                </c:pt>
                <c:pt idx="14">
                  <c:v>6.5</c:v>
                </c:pt>
                <c:pt idx="15">
                  <c:v>6.2</c:v>
                </c:pt>
                <c:pt idx="16">
                  <c:v>6</c:v>
                </c:pt>
                <c:pt idx="17">
                  <c:v>5.9</c:v>
                </c:pt>
                <c:pt idx="18">
                  <c:v>5.5</c:v>
                </c:pt>
                <c:pt idx="19">
                  <c:v>5.4</c:v>
                </c:pt>
                <c:pt idx="20">
                  <c:v>5.3</c:v>
                </c:pt>
              </c:numCache>
            </c:numRef>
          </c:val>
          <c:smooth val="0"/>
        </c:ser>
        <c:ser>
          <c:idx val="1"/>
          <c:order val="1"/>
          <c:tx>
            <c:strRef>
              <c:f>Sheet1!$C$1</c:f>
              <c:strCache>
                <c:ptCount val="1"/>
                <c:pt idx="0">
                  <c:v>Her usual (7.0 h)</c:v>
                </c:pt>
              </c:strCache>
            </c:strRef>
          </c:tx>
          <c:spPr>
            <a:solidFill>
              <a:srgbClr val="8FB9A8"/>
            </a:solidFill>
            <a:ln w="38100" cap="flat">
              <a:solidFill>
                <a:srgbClr val="8FB9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FB9A8"/>
              </a:solidFill>
              <a:ln w="9525" cap="flat">
                <a:solidFill>
                  <a:srgbClr val="8FB9A8"/>
                </a:solidFill>
                <a:prstDash val="solid"/>
                <a:round/>
              </a:ln>
              <a:effectLst/>
            </c:spPr>
          </c:marker>
          <c:cat>
            <c:multiLvlStrRef>
              <c:f>Sheet1!$A$2:$A$22</c:f>
              <c:multiLvlStrCache>
                <c:ptCount val="21"/>
                <c:lvl>
                  <c:pt idx="0">
                    <c:v>D1</c:v>
                  </c:pt>
                  <c:pt idx="1">
                    <c:v>D2</c:v>
                  </c:pt>
                  <c:pt idx="2">
                    <c:v>D3</c:v>
                  </c:pt>
                  <c:pt idx="3">
                    <c:v>D4</c:v>
                  </c:pt>
                  <c:pt idx="4">
                    <c:v>D5</c:v>
                  </c:pt>
                  <c:pt idx="5">
                    <c:v>D6</c:v>
                  </c:pt>
                  <c:pt idx="6">
                    <c:v>D7</c:v>
                  </c:pt>
                  <c:pt idx="7">
                    <c:v>D8</c:v>
                  </c:pt>
                  <c:pt idx="8">
                    <c:v>D9</c:v>
                  </c:pt>
                  <c:pt idx="9">
                    <c:v>D10</c:v>
                  </c:pt>
                  <c:pt idx="10">
                    <c:v>D11</c:v>
                  </c:pt>
                  <c:pt idx="11">
                    <c:v>D12</c:v>
                  </c:pt>
                  <c:pt idx="12">
                    <c:v>D13</c:v>
                  </c:pt>
                  <c:pt idx="13">
                    <c:v>D14</c:v>
                  </c:pt>
                  <c:pt idx="14">
                    <c:v>D15</c:v>
                  </c:pt>
                  <c:pt idx="15">
                    <c:v>D16</c:v>
                  </c:pt>
                  <c:pt idx="16">
                    <c:v>D17</c:v>
                  </c:pt>
                  <c:pt idx="17">
                    <c:v>D18</c:v>
                  </c:pt>
                  <c:pt idx="18">
                    <c:v>D19</c:v>
                  </c:pt>
                  <c:pt idx="19">
                    <c:v>D20</c:v>
                  </c:pt>
                  <c:pt idx="20">
                    <c:v>D21</c:v>
                  </c:pt>
                </c:lvl>
              </c:multiLvlStrCache>
            </c:multiLvlStrRef>
          </c:cat>
          <c:val>
            <c:numRef>
              <c:f>Sheet1!$C$2:$C$22</c:f>
              <c:numCache>
                <c:formatCode>General</c:formatCode>
                <c:ptCount val="21"/>
                <c:pt idx="0">
                  <c:v>7</c:v>
                </c:pt>
                <c:pt idx="1">
                  <c:v>7</c:v>
                </c:pt>
                <c:pt idx="2">
                  <c:v>7</c:v>
                </c:pt>
                <c:pt idx="3">
                  <c:v>7</c:v>
                </c:pt>
                <c:pt idx="4">
                  <c:v>7</c:v>
                </c:pt>
                <c:pt idx="5">
                  <c:v>7</c:v>
                </c:pt>
                <c:pt idx="6">
                  <c:v>7</c:v>
                </c:pt>
                <c:pt idx="7">
                  <c:v>7</c:v>
                </c:pt>
                <c:pt idx="8">
                  <c:v>7</c:v>
                </c:pt>
                <c:pt idx="9">
                  <c:v>7</c:v>
                </c:pt>
                <c:pt idx="10">
                  <c:v>7</c:v>
                </c:pt>
                <c:pt idx="11">
                  <c:v>7</c:v>
                </c:pt>
                <c:pt idx="12">
                  <c:v>7</c:v>
                </c:pt>
                <c:pt idx="13">
                  <c:v>7</c:v>
                </c:pt>
                <c:pt idx="14">
                  <c:v>7</c:v>
                </c:pt>
                <c:pt idx="15">
                  <c:v>7</c:v>
                </c:pt>
                <c:pt idx="16">
                  <c:v>7</c:v>
                </c:pt>
                <c:pt idx="17">
                  <c:v>7</c:v>
                </c:pt>
                <c:pt idx="18">
                  <c:v>7</c:v>
                </c:pt>
                <c:pt idx="19">
                  <c:v>7</c:v>
                </c:pt>
                <c:pt idx="20">
                  <c:v>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080"/>
                </a:solidFill>
                <a:latin typeface="+mn-lt"/>
              </a:defRPr>
            </a:pPr>
            <a:endParaRPr lang="en-US"/>
          </a:p>
        </c:txPr>
        <c:crossAx val="2094734552"/>
        <c:crosses val="autoZero"/>
        <c:auto val="1"/>
        <c:lblAlgn val="ctr"/>
        <c:noMultiLvlLbl val="1"/>
        <c:tickLblSkip val="5"/>
      </c:catAx>
      <c:valAx>
        <c:axId val="2094734552"/>
        <c:scaling>
          <c:orientation val="minMax"/>
          <c:max val="8"/>
          <c:min val="4"/>
        </c:scaling>
        <c:delete val="0"/>
        <c:axPos val="l"/>
        <c:majorGridlines>
          <c:spPr>
            <a:ln w="6350" cap="flat">
              <a:solidFill>
                <a:srgbClr val="E3E5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080"/>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2B2D4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[MEREL, about 40 seconds]
Good morning. We're Team HTTP Dino from St Aloysius: I'm Merel, this is Pankaj, and this is Kishore.
We chose Problem 2, Mind Check. Our project is MindMirror: a well-being companion app and an AI necklace that help students notice early signs of stress, compared with their own normal, without ever diagnosing them.
In Round 1 we were placed first with this idea. In the last 24 hours we built it.
[Pause.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[MEREL, about 50 seconds]
Burnout doesn't arrive in a day. The problem statement names five slow pressures: academic pressure, poor sleep, isolation, exhaustion and loss of motivation.
Look at this chart. It's Asha, a sample student. For two weeks she sleeps about 7 hours. Then exams come: 6.5, 6, 5.5, 5.4. No single night looks alarming, and 5.4 hours might be normal for her roommate. But for Asha, it's 1.6 hours less than her own normal. That's the drift nobody notices.
[If you did interviews: "This morning we asked N students here. One told us: '...'" Use your best quote from research.md.]
So the question is: how can technology notice this early, and help, without diagnosing?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[MEREL, about 40 seconds]
MindMirror has two parts.
The app: a 30-second daily check-in, five signals compared with your own normal, each with its proof, a mind weather, a support ladder, and calm tools: a Play room, breathing, and a companion you can chat with.
And the AI necklace: you hold the button, say how you feel, and hear a calm reply from the necklace itself. That voice check-in appears in the app. It's for moments when you won't unlock your phone.
Four principles run through everything: compare you with yourself, show the proof, never diagnose, and point to real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[MEREL, about 50 seconds. Pankaj can take this slide if you prefer.]
Here's how it works. Each day the student checks in: mood, stress, energy, hours of sleep, and "did you talk to someone you like?" By tapping, or by voice.
MindMirror builds your own normal: the median of your previous two weeks. It needs at least five days before it says anything; until then it says "learning your normal".
Then it compares your last three days with that normal, for five signals, and labels each one steady, watch, or needs care, with the proof.
The signals add up to a mind weather, from clear skies to heavy skies, and the weather picks a step on the support ladder.
One rule matters most: code calculates, AI only explains. The numbers come from plain tested code. The AI only turns them into kind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[KISHORE, about 45 seconds]
Each of the five pressures in the problem statement has its own signal.
Academic pressure is Pressure: stress check-ins plus hours of work due versus hours planned. Poor sleep is Sleep. Isolation is Connection: "did you talk to someone you like?" Exhaustion is Energy. And loss of motivation is Drive: mood, plus what you tell the necklace.
On the right is what the student actually sees: Sleep, needs care, and the proof: "You slept 5.4 hours on average the last 3 nights; your usual is 7.0." And one small tip, never a lecture.
For sleep, 0.75 hours below your usual is "watch", 1.5 hours is "needs care". These are starting points we'd tune with a counsellor.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[KISHORE explains, about 60 seconds. Pankaj adds technical depth in Q&amp;A.]
This is our AI necklace. Inside: an ESP32 board, which is the brain and has Wi-Fi; an INMP441 digital microphone; a MAX98357A amplifier with an 8-ohm speaker; and a push button.
You hold the button and talk. The ESP32 reads the mic 16,000 times a second and streams the sound over Wi-Fi to our laptop hub while you're still talking. When you let go, the hub turns speech into text with Whisper, writes a short kind reply, and turns it into a voice. The necklace plays it, and the conversation appears in the app live.
It takes about 2 to 4 seconds. [Replace with your measured time.] The mic and the speaker each use their own I2S channel, so they run at the same time. And the necklace finds the laptop by itself: no IP addresses.
One safety rule: crisis words never reach the AI. The necklace answers with Tele-MANAS 14416 and 112,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[MEREL, about 40 seconds]
When you're stressed, reading tips doesn't help. Doing something with your hands does. So we built a Play room with no scores, no timers and no way to lose.
Bubble wrap: pop slowly, breathe out with each one. Worry shredder: type what's weighing on you and watch it shred and fade; nothing is saved. Ripples pond: tap the water and watch calm rings spread.
I built these three games. [Smile. It's yours.]
There's also a one-minute breathing circle, built by Kishore, and the companion, which you can chat with or talk to, and which explains your own numbers kindly.
So a student who sees "needs care" gets something to do in the next ten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[MEREL, about 45 seconds]
Mental health needs trust, so safety is built in, not added on.
One: MindMirror never diagnoses. No labels. We show changes against your own normal.
Two: code calculates, AI explains. The AI only receives facts the engine already calculated, is limited to two short sentences, and is told never to give medical advice.
Three: your data stays with you. Check-ins and history live in your own browser. There are no accounts and no server database. Voice is sent to the AI service to be understood, and we don't store it. In Round 1 we designed a fully on-device version; that's our production path.
Four: crisis goes to people. If someone says something like "I want to die", the AI is skipped completely and the app and necklace show Tele-MANAS 14416 and 112,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MINUTES. Merel drives the laptop; Kishore holds the necklace; Pankaj keeps the hub log visible.]
1. MEREL: "This is Asha's MindMirror after three weeks of sample data. Her weather today is Soft rain."
2. MEREL: open Insights. "Sleep says needs care, with the proof: 5.4 hours versus her usual 7. No single night looks bad; the drift does."
3. KISHORE: hold the button and say clearly: "I only slept four hours and I have two assignments due tomorrow." Let go. Wait for the reply. MEREL points at the laptop: "And it's logged in the app, live." PANKAJ (one line): "Here's the hub log: speech-to-text, reply and voice, each in milliseconds."
4. MEREL: open Play. Pop three bubbles. "When you're stressed, doing beats reading."
5. MEREL: open Support. "We never diagnose. We point to people: Tele-MANAS 14416, free and 24 by 7."
IF THE NECKLACE FAILS: KISHORE smiles: "Live hardware!" MEREL opens Companion and uses Hold to talk. Keep going, don't debug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[PANKAJ, about 45 seconds]
Three parts. The web app: React, TypeScript, Vite and Tailwind, with all data stored locally in IndexedDB through Dexie. The signal engine is plain TypeScript with unit tests.
The laptop hub in Node.js: Whisper large-v3-turbo for speech, an open GPT-OSS 20B model for the reply, both on Groq, and Microsoft's Indian-English neural voice. It pushes every conversation to the app with Server-Sent Events.
And the necklace firmware in Arduino C++: two I2S channels for mic and speaker at once, audio streamed in chunks over HTTP, and automatic discovery of the laptop over UDP.
Five signals, a check-in under a minute, zero personal records on a server, and three teammates committing from three accounts. We disclosed every library, API and AI assistant in our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[KISHORE, about 40 seconds]
We split the work by ownership. Pankaj led the tech: the signal engine and its tests, the laptop hub, the necklace firmware, and putting it all together. Merel did the student interviews, wrote every word in the app, built the Play room games and the support screen, and made this presentation and the demo video. I did the design and UI components, the check-in and breathing screens, and with Pankaj I wired and tested the necklace, and I built its case.
We each worked on our own branch with pull requests, synced for ten minutes every three hours, and followed a written plan with owners and times. You can see all three of us in the commit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[MEREL, about 40 seconds]
Why it matters: students notice the drift weeks earlier, in their own numbers. Support becomes a ladder of small steps instead of one scary jump. And a college can share one link at orientation: free, private, nothing to install. We'd measure success by whether students reach out earlier, with opt-in surveys.
Next: smartwatch sleep and heart-rate data, a battery-powered necklace, the fully on-device AI we designed in Round 1, an Android app with gentle reminders, and a pilot with our college's counselling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[MEREL, about 15 seconds]
MindMirror helps students notice early, understand themselves, and reach out. Thank you. We'd love your questions.
[Q&amp;A: Merel takes problem, safety, privacy, games and impact questions; Pankaj takes technical ones; Kishore takes hardware, design and teamwork. See JUDGE_QA.md. Hand over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chemeClr val="tx1">
                    <a:alpha val="60000"/>
                  </a:schemeClr>
                </a:solidFill>
              </a:rPr>
              <a:t>MindMirror · Team HTTP Dino</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TITLE">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chemeClr val="tx1">
                    <a:alpha val="60000"/>
                  </a:schemeClr>
                </a:solidFill>
              </a:rPr>
              <a:t>MindMirror · Team HTTP Dino</a:t>
            </a:r>
            <a:endParaRPr lang="en-US" sz="1000" dirty="0"/>
          </a:p>
        </p:txBody>
      </p:sp>
      <p:sp>
        <p:nvSpPr>
          <p:cNvPr id="3" name="Text 1"/>
          <p:cNvSpPr/>
          <p:nvPr>
            <p:ph idx="101" type="title" hasCustomPrompt="1"/>
          </p:nvPr>
        </p:nvSpPr>
        <p:spPr>
          <a:xfrm>
            <a:off x="548640" y="411480"/>
            <a:ext cx="11064240" cy="822960"/>
          </a:xfrm>
          <a:prstGeom prst="rect">
            <a:avLst/>
          </a:prstGeom>
          <a:noFill/>
          <a:ln/>
        </p:spPr>
        <p:txBody>
          <a:bodyPr wrap="square" rtlCol="0"/>
          <a:lstStyle>
            <a:lvl1pPr indent="0" marL="0">
              <a:buNone/>
              <a:defRPr lang="en-US" sz="3600" b="1" dirty="0">
                <a:solidFill>
                  <a:schemeClr val="tx2"/>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indent="0" marL="0">
              <a:buNone/>
              <a:defRPr lang="en-US" sz="3600" b="1" dirty="0">
                <a:solidFill>
                  <a:schemeClr val="bg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5.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
          <p:cNvSpPr/>
          <p:nvPr/>
        </p:nvSpPr>
        <p:spPr>
          <a:xfrm>
            <a:off x="6949440" y="914400"/>
            <a:ext cx="4754880" cy="4754880"/>
          </a:xfrm>
          <a:prstGeom prst="ellipse">
            <a:avLst/>
          </a:prstGeom>
          <a:solidFill>
            <a:schemeClr val="accent1">
              <a:alpha val="30000"/>
            </a:schemeClr>
          </a:solidFill>
          <a:ln w="12700">
            <a:solidFill>
              <a:schemeClr val="accent1"/>
            </a:solidFill>
            <a:prstDash val="solid"/>
          </a:ln>
        </p:spPr>
      </p:sp>
      <p:sp>
        <p:nvSpPr>
          <p:cNvPr id="3" name="glow inner"/>
          <p:cNvSpPr/>
          <p:nvPr/>
        </p:nvSpPr>
        <p:spPr>
          <a:xfrm>
            <a:off x="7680960" y="1645920"/>
            <a:ext cx="3291840" cy="3291840"/>
          </a:xfrm>
          <a:prstGeom prst="ellipse">
            <a:avLst/>
          </a:prstGeom>
          <a:solidFill>
            <a:schemeClr val="accent2">
              <a:alpha val="45000"/>
            </a:schemeClr>
          </a:solidFill>
          <a:ln w="12700">
            <a:solidFill>
              <a:schemeClr val="accent2"/>
            </a:solidFill>
            <a:prstDash val="solid"/>
          </a:ln>
        </p:spPr>
      </p:sp>
      <p:pic>
        <p:nvPicPr>
          <p:cNvPr id="4" name="leaf" descr="preencoded.png">    </p:cNvPr>
          <p:cNvPicPr>
            <a:picLocks noChangeAspect="1"/>
          </p:cNvPicPr>
          <p:nvPr/>
        </p:nvPicPr>
        <p:blipFill>
          <a:blip r:embed="rId1"/>
          <a:stretch>
            <a:fillRect/>
          </a:stretch>
        </p:blipFill>
        <p:spPr>
          <a:xfrm>
            <a:off x="8686800" y="2651760"/>
            <a:ext cx="1280160" cy="1280160"/>
          </a:xfrm>
          <a:prstGeom prst="rect">
            <a:avLst/>
          </a:prstGeom>
        </p:spPr>
      </p:pic>
      <p:sp>
        <p:nvSpPr>
          <p:cNvPr id="5" name="Text 2"/>
          <p:cNvSpPr txBox="1"/>
          <p:nvPr/>
        </p:nvSpPr>
        <p:spPr>
          <a:xfrm>
            <a:off x="731520" y="1097280"/>
            <a:ext cx="7315200" cy="365760"/>
          </a:xfrm>
          <a:prstGeom prst="rect">
            <a:avLst/>
          </a:prstGeom>
          <a:noFill/>
          <a:ln/>
        </p:spPr>
        <p:txBody>
          <a:bodyPr wrap="square" lIns="0" tIns="0" rIns="0" bIns="0" rtlCol="0" anchor="t"/>
          <a:lstStyle/>
          <a:p>
            <a:pPr indent="0" marL="0">
              <a:buNone/>
            </a:pPr>
            <a:r>
              <a:rPr lang="en-US" sz="1400" b="1" spc="200" kern="0" dirty="0">
                <a:solidFill>
                  <a:schemeClr val="accent2"/>
                </a:solidFill>
                <a:latin typeface="Calibri" pitchFamily="34" charset="0"/>
                <a:ea typeface="Calibri" pitchFamily="34" charset="-122"/>
                <a:cs typeface="Calibri" pitchFamily="34" charset="-120"/>
              </a:rPr>
              <a:t>PROBLEM 2 · MIND CHECK · MENTAL WELLNESS TECH</a:t>
            </a:r>
            <a:endParaRPr lang="en-US" sz="1400" dirty="0"/>
          </a:p>
        </p:txBody>
      </p:sp>
      <p:sp>
        <p:nvSpPr>
          <p:cNvPr id="6" name="Text 3"/>
          <p:cNvSpPr txBox="1"/>
          <p:nvPr/>
        </p:nvSpPr>
        <p:spPr>
          <a:xfrm>
            <a:off x="731520" y="1600200"/>
            <a:ext cx="7315200" cy="1188720"/>
          </a:xfrm>
          <a:prstGeom prst="rect">
            <a:avLst/>
          </a:prstGeom>
          <a:noFill/>
          <a:ln/>
        </p:spPr>
        <p:txBody>
          <a:bodyPr wrap="square" lIns="0" tIns="0" rIns="0" bIns="0" rtlCol="0" anchor="t"/>
          <a:lstStyle/>
          <a:p>
            <a:pPr indent="0" marL="0">
              <a:buNone/>
            </a:pPr>
            <a:r>
              <a:rPr lang="en-US" sz="6600" b="1" dirty="0">
                <a:solidFill>
                  <a:schemeClr val="bg1"/>
                </a:solidFill>
                <a:latin typeface="Cambria" pitchFamily="34" charset="0"/>
                <a:ea typeface="Cambria" pitchFamily="34" charset="-122"/>
                <a:cs typeface="Cambria" pitchFamily="34" charset="-120"/>
              </a:rPr>
              <a:t>MindMirror</a:t>
            </a:r>
            <a:endParaRPr lang="en-US" sz="6600" dirty="0"/>
          </a:p>
        </p:txBody>
      </p:sp>
      <p:sp>
        <p:nvSpPr>
          <p:cNvPr id="7" name="Text 4"/>
          <p:cNvSpPr txBox="1"/>
          <p:nvPr/>
        </p:nvSpPr>
        <p:spPr>
          <a:xfrm>
            <a:off x="731520" y="2788920"/>
            <a:ext cx="7315200" cy="548640"/>
          </a:xfrm>
          <a:prstGeom prst="rect">
            <a:avLst/>
          </a:prstGeom>
          <a:noFill/>
          <a:ln/>
        </p:spPr>
        <p:txBody>
          <a:bodyPr wrap="square" lIns="0" tIns="0" rIns="0" bIns="0" rtlCol="0" anchor="t"/>
          <a:lstStyle/>
          <a:p>
            <a:pPr indent="0" marL="0">
              <a:buNone/>
            </a:pPr>
            <a:r>
              <a:rPr lang="en-US" sz="2400" i="1" dirty="0">
                <a:solidFill>
                  <a:schemeClr val="accent6"/>
                </a:solidFill>
                <a:latin typeface="Cambria" pitchFamily="34" charset="0"/>
                <a:ea typeface="Cambria" pitchFamily="34" charset="-122"/>
                <a:cs typeface="Cambria" pitchFamily="34" charset="-120"/>
              </a:rPr>
              <a:t>Notice early. Understand yourself. Reach out.</a:t>
            </a:r>
            <a:endParaRPr lang="en-US" sz="2400" dirty="0"/>
          </a:p>
        </p:txBody>
      </p:sp>
      <p:sp>
        <p:nvSpPr>
          <p:cNvPr id="8" name="Text 5"/>
          <p:cNvSpPr txBox="1"/>
          <p:nvPr/>
        </p:nvSpPr>
        <p:spPr>
          <a:xfrm>
            <a:off x="731520" y="3520440"/>
            <a:ext cx="6035040" cy="82296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A well-being companion app and an AI necklace that help students notice early signs of stress, compared with their own normal, without diagnosing.</a:t>
            </a:r>
            <a:endParaRPr lang="en-US" sz="1600" dirty="0"/>
          </a:p>
        </p:txBody>
      </p:sp>
      <p:sp>
        <p:nvSpPr>
          <p:cNvPr id="9" name="Text 6"/>
          <p:cNvSpPr txBox="1"/>
          <p:nvPr/>
        </p:nvSpPr>
        <p:spPr>
          <a:xfrm>
            <a:off x="731520" y="4800600"/>
            <a:ext cx="6766560" cy="914400"/>
          </a:xfrm>
          <a:prstGeom prst="rect">
            <a:avLst/>
          </a:prstGeom>
          <a:noFill/>
          <a:ln/>
        </p:spPr>
        <p:txBody>
          <a:bodyPr wrap="square" lIns="0" tIns="0" rIns="0" bIns="0" rtlCol="0" anchor="t"/>
          <a:lstStyle/>
          <a:p>
            <a:pPr indent="0" marL="0">
              <a:lnSpc>
                <a:spcPct val="115000"/>
              </a:lnSpc>
              <a:buNone/>
            </a:pPr>
            <a:r>
              <a:rPr lang="en-US" sz="1500" b="1" dirty="0">
                <a:solidFill>
                  <a:schemeClr val="bg1"/>
                </a:solidFill>
                <a:latin typeface="Calibri" pitchFamily="34" charset="0"/>
                <a:ea typeface="Calibri" pitchFamily="34" charset="-122"/>
                <a:cs typeface="Calibri" pitchFamily="34" charset="-120"/>
              </a:rPr>
              <a:t>Team HTTP Dino</a:t>
            </a:r>
            <a:endParaRPr lang="en-US" sz="1500" dirty="0"/>
          </a:p>
          <a:p>
            <a:pPr indent="0" marL="0">
              <a:lnSpc>
                <a:spcPct val="115000"/>
              </a:lnSpc>
              <a:buNone/>
            </a:pPr>
            <a:r>
              <a:rPr lang="en-US" sz="1500" dirty="0">
                <a:solidFill>
                  <a:schemeClr val="bg1"/>
                </a:solidFill>
                <a:latin typeface="Calibri" pitchFamily="34" charset="0"/>
                <a:ea typeface="Calibri" pitchFamily="34" charset="-122"/>
                <a:cs typeface="Calibri" pitchFamily="34" charset="-120"/>
              </a:rPr>
              <a:t>K S Pankaj · Merel Riha Dsouza · A B Kishore Krishna</a:t>
            </a:r>
            <a:endParaRPr lang="en-US" sz="1500" dirty="0"/>
          </a:p>
          <a:p>
            <a:pPr indent="0" marL="0">
              <a:lnSpc>
                <a:spcPct val="115000"/>
              </a:lnSpc>
              <a:buNone/>
            </a:pPr>
            <a:r>
              <a:rPr lang="en-US" sz="1500" dirty="0">
                <a:solidFill>
                  <a:schemeClr val="bg1"/>
                </a:solidFill>
                <a:latin typeface="Calibri" pitchFamily="34" charset="0"/>
                <a:ea typeface="Calibri" pitchFamily="34" charset="-122"/>
                <a:cs typeface="Calibri" pitchFamily="34" charset="-120"/>
              </a:rPr>
              <a:t>St Aloysius (Deemed to be University)</a:t>
            </a:r>
            <a:endParaRPr lang="en-US" sz="1500" dirty="0"/>
          </a:p>
        </p:txBody>
      </p:sp>
      <p:sp>
        <p:nvSpPr>
          <p:cNvPr id="10" name="badge"/>
          <p:cNvSpPr/>
          <p:nvPr/>
        </p:nvSpPr>
        <p:spPr>
          <a:xfrm>
            <a:off x="731520" y="5897880"/>
            <a:ext cx="2651760" cy="457200"/>
          </a:xfrm>
          <a:prstGeom prst="roundRect">
            <a:avLst>
              <a:gd name="adj" fmla="val 50000"/>
            </a:avLst>
          </a:prstGeom>
          <a:solidFill>
            <a:schemeClr val="accent4"/>
          </a:solidFill>
          <a:ln w="12700">
            <a:solidFill>
              <a:schemeClr val="accent4"/>
            </a:solidFill>
            <a:prstDash val="solid"/>
          </a:ln>
        </p:spPr>
      </p:sp>
      <p:pic>
        <p:nvPicPr>
          <p:cNvPr id="11" name="trophy" descr="preencoded.png">    </p:cNvPr>
          <p:cNvPicPr>
            <a:picLocks noChangeAspect="1"/>
          </p:cNvPicPr>
          <p:nvPr/>
        </p:nvPicPr>
        <p:blipFill>
          <a:blip r:embed="rId2"/>
          <a:stretch>
            <a:fillRect/>
          </a:stretch>
        </p:blipFill>
        <p:spPr>
          <a:xfrm>
            <a:off x="896112" y="5998464"/>
            <a:ext cx="256032" cy="256032"/>
          </a:xfrm>
          <a:prstGeom prst="rect">
            <a:avLst/>
          </a:prstGeom>
        </p:spPr>
      </p:pic>
      <p:sp>
        <p:nvSpPr>
          <p:cNvPr id="12" name="Text 8"/>
          <p:cNvSpPr txBox="1"/>
          <p:nvPr/>
        </p:nvSpPr>
        <p:spPr>
          <a:xfrm>
            <a:off x="1234440" y="5897880"/>
            <a:ext cx="2103120" cy="45720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Round 1: 1st place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Burnout doesn't arrive in a day. It drifts in</a:t>
            </a:r>
            <a:endParaRPr lang="en-US" sz="3600" dirty="0"/>
          </a:p>
        </p:txBody>
      </p:sp>
      <p:sp>
        <p:nvSpPr>
          <p:cNvPr id="3" name="Text 1"/>
          <p:cNvSpPr txBox="1"/>
          <p:nvPr/>
        </p:nvSpPr>
        <p:spPr>
          <a:xfrm>
            <a:off x="548640" y="1417320"/>
            <a:ext cx="4937760" cy="3657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The problem statement names five slow pressures:</a:t>
            </a:r>
            <a:endParaRPr lang="en-US" sz="1600" dirty="0"/>
          </a:p>
        </p:txBody>
      </p:sp>
      <p:sp>
        <p:nvSpPr>
          <p:cNvPr id="4" name="driver pill"/>
          <p:cNvSpPr/>
          <p:nvPr/>
        </p:nvSpPr>
        <p:spPr>
          <a:xfrm>
            <a:off x="548640" y="1874520"/>
            <a:ext cx="3108960" cy="457200"/>
          </a:xfrm>
          <a:prstGeom prst="roundRect">
            <a:avLst>
              <a:gd name="adj" fmla="val 50000"/>
            </a:avLst>
          </a:prstGeom>
          <a:solidFill>
            <a:schemeClr val="bg1"/>
          </a:solidFill>
          <a:ln w="19050">
            <a:solidFill>
              <a:schemeClr val="accent3"/>
            </a:solidFill>
            <a:prstDash val="solid"/>
          </a:ln>
        </p:spPr>
      </p:sp>
      <p:sp>
        <p:nvSpPr>
          <p:cNvPr id="5" name="Text 3"/>
          <p:cNvSpPr txBox="1"/>
          <p:nvPr/>
        </p:nvSpPr>
        <p:spPr>
          <a:xfrm>
            <a:off x="731520" y="1874520"/>
            <a:ext cx="2834640" cy="457200"/>
          </a:xfrm>
          <a:prstGeom prst="rect">
            <a:avLst/>
          </a:prstGeom>
          <a:noFill/>
          <a:ln/>
        </p:spPr>
        <p:txBody>
          <a:bodyPr wrap="square" lIns="0" tIns="0" rIns="0" bIns="0" rtlCol="0" anchor="ctr"/>
          <a:lstStyle/>
          <a:p>
            <a:pPr indent="0" marL="0">
              <a:buNone/>
            </a:pPr>
            <a:r>
              <a:rPr lang="en-US" sz="1500" b="1" dirty="0">
                <a:solidFill>
                  <a:schemeClr val="accent3"/>
                </a:solidFill>
                <a:latin typeface="Calibri" pitchFamily="34" charset="0"/>
                <a:ea typeface="Calibri" pitchFamily="34" charset="-122"/>
                <a:cs typeface="Calibri" pitchFamily="34" charset="-120"/>
              </a:rPr>
              <a:t>Academic pressure</a:t>
            </a:r>
            <a:endParaRPr lang="en-US" sz="1500" dirty="0"/>
          </a:p>
        </p:txBody>
      </p:sp>
      <p:sp>
        <p:nvSpPr>
          <p:cNvPr id="6" name="driver pill"/>
          <p:cNvSpPr/>
          <p:nvPr/>
        </p:nvSpPr>
        <p:spPr>
          <a:xfrm>
            <a:off x="548640" y="2441448"/>
            <a:ext cx="3108960" cy="457200"/>
          </a:xfrm>
          <a:prstGeom prst="roundRect">
            <a:avLst>
              <a:gd name="adj" fmla="val 50000"/>
            </a:avLst>
          </a:prstGeom>
          <a:solidFill>
            <a:schemeClr val="bg1"/>
          </a:solidFill>
          <a:ln w="19050">
            <a:solidFill>
              <a:schemeClr val="accent1"/>
            </a:solidFill>
            <a:prstDash val="solid"/>
          </a:ln>
        </p:spPr>
      </p:sp>
      <p:sp>
        <p:nvSpPr>
          <p:cNvPr id="7" name="Text 5"/>
          <p:cNvSpPr txBox="1"/>
          <p:nvPr/>
        </p:nvSpPr>
        <p:spPr>
          <a:xfrm>
            <a:off x="731520" y="2441448"/>
            <a:ext cx="2834640" cy="45720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Poor sleep</a:t>
            </a:r>
            <a:endParaRPr lang="en-US" sz="1500" dirty="0"/>
          </a:p>
        </p:txBody>
      </p:sp>
      <p:sp>
        <p:nvSpPr>
          <p:cNvPr id="8" name="driver pill"/>
          <p:cNvSpPr/>
          <p:nvPr/>
        </p:nvSpPr>
        <p:spPr>
          <a:xfrm>
            <a:off x="548640" y="3008376"/>
            <a:ext cx="3108960" cy="457200"/>
          </a:xfrm>
          <a:prstGeom prst="roundRect">
            <a:avLst>
              <a:gd name="adj" fmla="val 50000"/>
            </a:avLst>
          </a:prstGeom>
          <a:solidFill>
            <a:schemeClr val="bg1"/>
          </a:solidFill>
          <a:ln w="19050">
            <a:solidFill>
              <a:schemeClr val="accent5"/>
            </a:solidFill>
            <a:prstDash val="solid"/>
          </a:ln>
        </p:spPr>
      </p:sp>
      <p:sp>
        <p:nvSpPr>
          <p:cNvPr id="9" name="Text 7"/>
          <p:cNvSpPr txBox="1"/>
          <p:nvPr/>
        </p:nvSpPr>
        <p:spPr>
          <a:xfrm>
            <a:off x="731520" y="3008376"/>
            <a:ext cx="2834640" cy="457200"/>
          </a:xfrm>
          <a:prstGeom prst="rect">
            <a:avLst/>
          </a:prstGeom>
          <a:noFill/>
          <a:ln/>
        </p:spPr>
        <p:txBody>
          <a:bodyPr wrap="square" lIns="0" tIns="0" rIns="0" bIns="0" rtlCol="0" anchor="ctr"/>
          <a:lstStyle/>
          <a:p>
            <a:pPr indent="0" marL="0">
              <a:buNone/>
            </a:pPr>
            <a:r>
              <a:rPr lang="en-US" sz="1500" b="1" dirty="0">
                <a:solidFill>
                  <a:schemeClr val="accent5"/>
                </a:solidFill>
                <a:latin typeface="Calibri" pitchFamily="34" charset="0"/>
                <a:ea typeface="Calibri" pitchFamily="34" charset="-122"/>
                <a:cs typeface="Calibri" pitchFamily="34" charset="-120"/>
              </a:rPr>
              <a:t>Isolation</a:t>
            </a:r>
            <a:endParaRPr lang="en-US" sz="1500" dirty="0"/>
          </a:p>
        </p:txBody>
      </p:sp>
      <p:sp>
        <p:nvSpPr>
          <p:cNvPr id="10" name="driver pill"/>
          <p:cNvSpPr/>
          <p:nvPr/>
        </p:nvSpPr>
        <p:spPr>
          <a:xfrm>
            <a:off x="548640" y="3575304"/>
            <a:ext cx="3108960" cy="457200"/>
          </a:xfrm>
          <a:prstGeom prst="roundRect">
            <a:avLst>
              <a:gd name="adj" fmla="val 50000"/>
            </a:avLst>
          </a:prstGeom>
          <a:solidFill>
            <a:schemeClr val="bg1"/>
          </a:solidFill>
          <a:ln w="19050">
            <a:solidFill>
              <a:schemeClr val="accent4"/>
            </a:solidFill>
            <a:prstDash val="solid"/>
          </a:ln>
        </p:spPr>
      </p:sp>
      <p:sp>
        <p:nvSpPr>
          <p:cNvPr id="11" name="Text 9"/>
          <p:cNvSpPr txBox="1"/>
          <p:nvPr/>
        </p:nvSpPr>
        <p:spPr>
          <a:xfrm>
            <a:off x="731520" y="3575304"/>
            <a:ext cx="2834640" cy="457200"/>
          </a:xfrm>
          <a:prstGeom prst="rect">
            <a:avLst/>
          </a:prstGeom>
          <a:noFill/>
          <a:ln/>
        </p:spPr>
        <p:txBody>
          <a:bodyPr wrap="square" lIns="0" tIns="0" rIns="0" bIns="0" rtlCol="0" anchor="ctr"/>
          <a:lstStyle/>
          <a:p>
            <a:pPr indent="0" marL="0">
              <a:buNone/>
            </a:pPr>
            <a:r>
              <a:rPr lang="en-US" sz="1500" b="1" dirty="0">
                <a:solidFill>
                  <a:schemeClr val="accent4"/>
                </a:solidFill>
                <a:latin typeface="Calibri" pitchFamily="34" charset="0"/>
                <a:ea typeface="Calibri" pitchFamily="34" charset="-122"/>
                <a:cs typeface="Calibri" pitchFamily="34" charset="-120"/>
              </a:rPr>
              <a:t>Exhaustion</a:t>
            </a:r>
            <a:endParaRPr lang="en-US" sz="1500" dirty="0"/>
          </a:p>
        </p:txBody>
      </p:sp>
      <p:sp>
        <p:nvSpPr>
          <p:cNvPr id="12" name="driver pill"/>
          <p:cNvSpPr/>
          <p:nvPr/>
        </p:nvSpPr>
        <p:spPr>
          <a:xfrm>
            <a:off x="548640" y="4142232"/>
            <a:ext cx="3108960" cy="457200"/>
          </a:xfrm>
          <a:prstGeom prst="roundRect">
            <a:avLst>
              <a:gd name="adj" fmla="val 50000"/>
            </a:avLst>
          </a:prstGeom>
          <a:solidFill>
            <a:schemeClr val="bg1"/>
          </a:solidFill>
          <a:ln w="19050">
            <a:solidFill>
              <a:schemeClr val="tx2"/>
            </a:solidFill>
            <a:prstDash val="solid"/>
          </a:ln>
        </p:spPr>
      </p:sp>
      <p:sp>
        <p:nvSpPr>
          <p:cNvPr id="13" name="Text 11"/>
          <p:cNvSpPr txBox="1"/>
          <p:nvPr/>
        </p:nvSpPr>
        <p:spPr>
          <a:xfrm>
            <a:off x="731520" y="4142232"/>
            <a:ext cx="2834640" cy="45720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Loss of motivation</a:t>
            </a:r>
            <a:endParaRPr lang="en-US" sz="1500" dirty="0"/>
          </a:p>
        </p:txBody>
      </p:sp>
      <p:sp>
        <p:nvSpPr>
          <p:cNvPr id="14" name="Text 12"/>
          <p:cNvSpPr txBox="1"/>
          <p:nvPr/>
        </p:nvSpPr>
        <p:spPr>
          <a:xfrm>
            <a:off x="548640" y="4800600"/>
            <a:ext cx="47548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Each day looks fine, so students notice only when studies, friendships or health already suffer.</a:t>
            </a:r>
            <a:endParaRPr lang="en-US" sz="1600" dirty="0"/>
          </a:p>
        </p:txBody>
      </p:sp>
      <p:sp>
        <p:nvSpPr>
          <p:cNvPr id="15" name="card"/>
          <p:cNvSpPr/>
          <p:nvPr/>
        </p:nvSpPr>
        <p:spPr>
          <a:xfrm>
            <a:off x="5760720" y="1417320"/>
            <a:ext cx="5897880" cy="4663440"/>
          </a:xfrm>
          <a:prstGeom prst="roundRect">
            <a:avLst>
              <a:gd name="adj" fmla="val 3529"/>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graphicFrame>
        <p:nvGraphicFramePr>
          <p:cNvPr id="16" name="sleep drift chart" descr=""/>
          <p:cNvGraphicFramePr/>
          <p:nvPr/>
        </p:nvGraphicFramePr>
        <p:xfrm>
          <a:off x="5943600" y="1554480"/>
          <a:ext cx="5532120" cy="374904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6035040" y="5394960"/>
            <a:ext cx="5394960" cy="548640"/>
          </a:xfrm>
          <a:prstGeom prst="rect">
            <a:avLst/>
          </a:prstGeom>
          <a:noFill/>
          <a:ln/>
        </p:spPr>
        <p:txBody>
          <a:bodyPr wrap="square" lIns="0" tIns="0" rIns="0" bIns="0" rtlCol="0" anchor="t"/>
          <a:lstStyle/>
          <a:p>
            <a:pPr indent="0" marL="0">
              <a:buNone/>
            </a:pPr>
            <a:r>
              <a:rPr lang="en-US" sz="1600" b="1" i="1" dirty="0">
                <a:solidFill>
                  <a:schemeClr val="accent1"/>
                </a:solidFill>
                <a:latin typeface="Cambria" pitchFamily="34" charset="0"/>
                <a:ea typeface="Cambria" pitchFamily="34" charset="-122"/>
                <a:cs typeface="Cambria" pitchFamily="34" charset="-120"/>
              </a:rPr>
              <a:t>No single night looks bad. The drift does: −1.6 h vs her own normal.</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An app and a necklace that notice with you</a:t>
            </a:r>
            <a:endParaRPr lang="en-US" sz="3600" dirty="0"/>
          </a:p>
        </p:txBody>
      </p:sp>
      <p:sp>
        <p:nvSpPr>
          <p:cNvPr id="3" name="card"/>
          <p:cNvSpPr/>
          <p:nvPr/>
        </p:nvSpPr>
        <p:spPr>
          <a:xfrm>
            <a:off x="548640" y="1463040"/>
            <a:ext cx="5394960" cy="3931920"/>
          </a:xfrm>
          <a:prstGeom prst="roundRect">
            <a:avLst>
              <a:gd name="adj" fmla="val 4186"/>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4" name="icon circle"/>
          <p:cNvSpPr/>
          <p:nvPr/>
        </p:nvSpPr>
        <p:spPr>
          <a:xfrm>
            <a:off x="914400" y="1783080"/>
            <a:ext cx="868680" cy="86868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1122883" y="1991563"/>
            <a:ext cx="451714" cy="451714"/>
          </a:xfrm>
          <a:prstGeom prst="rect">
            <a:avLst/>
          </a:prstGeom>
        </p:spPr>
      </p:pic>
      <p:sp>
        <p:nvSpPr>
          <p:cNvPr id="6" name="Text 3"/>
          <p:cNvSpPr txBox="1"/>
          <p:nvPr/>
        </p:nvSpPr>
        <p:spPr>
          <a:xfrm>
            <a:off x="1965960" y="1920240"/>
            <a:ext cx="3657600" cy="59436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The app</a:t>
            </a:r>
            <a:endParaRPr lang="en-US" sz="2600" dirty="0"/>
          </a:p>
        </p:txBody>
      </p:sp>
      <p:sp>
        <p:nvSpPr>
          <p:cNvPr id="7" name="Text 4"/>
          <p:cNvSpPr txBox="1"/>
          <p:nvPr/>
        </p:nvSpPr>
        <p:spPr>
          <a:xfrm>
            <a:off x="960120" y="2926080"/>
            <a:ext cx="4663440" cy="21945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30-second daily check-in</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Five signals vs your own normal, with proof</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Mind weather and a support ladder</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Play room, breathing, companion chat</a:t>
            </a:r>
            <a:endParaRPr lang="en-US" sz="1700" dirty="0"/>
          </a:p>
        </p:txBody>
      </p:sp>
      <p:sp>
        <p:nvSpPr>
          <p:cNvPr id="8" name="card"/>
          <p:cNvSpPr/>
          <p:nvPr/>
        </p:nvSpPr>
        <p:spPr>
          <a:xfrm>
            <a:off x="6263640" y="1463040"/>
            <a:ext cx="5394960" cy="3931920"/>
          </a:xfrm>
          <a:prstGeom prst="roundRect">
            <a:avLst>
              <a:gd name="adj" fmla="val 4186"/>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9" name="icon circle"/>
          <p:cNvSpPr/>
          <p:nvPr/>
        </p:nvSpPr>
        <p:spPr>
          <a:xfrm>
            <a:off x="6629400" y="1783080"/>
            <a:ext cx="868680" cy="868680"/>
          </a:xfrm>
          <a:prstGeom prst="ellipse">
            <a:avLst/>
          </a:prstGeom>
          <a:solidFill>
            <a:schemeClr val="accent5"/>
          </a:solidFill>
          <a:ln w="12700">
            <a:solidFill>
              <a:schemeClr val="accent5"/>
            </a:solidFill>
            <a:prstDash val="solid"/>
          </a:ln>
        </p:spPr>
      </p:sp>
      <p:pic>
        <p:nvPicPr>
          <p:cNvPr id="10" name="icon" descr="preencoded.png">    </p:cNvPr>
          <p:cNvPicPr>
            <a:picLocks noChangeAspect="1"/>
          </p:cNvPicPr>
          <p:nvPr/>
        </p:nvPicPr>
        <p:blipFill>
          <a:blip r:embed="rId2"/>
          <a:stretch>
            <a:fillRect/>
          </a:stretch>
        </p:blipFill>
        <p:spPr>
          <a:xfrm>
            <a:off x="6837883" y="1991563"/>
            <a:ext cx="451714" cy="451714"/>
          </a:xfrm>
          <a:prstGeom prst="rect">
            <a:avLst/>
          </a:prstGeom>
        </p:spPr>
      </p:pic>
      <p:sp>
        <p:nvSpPr>
          <p:cNvPr id="11" name="Text 7"/>
          <p:cNvSpPr txBox="1"/>
          <p:nvPr/>
        </p:nvSpPr>
        <p:spPr>
          <a:xfrm>
            <a:off x="7680960" y="1920240"/>
            <a:ext cx="3657600" cy="594360"/>
          </a:xfrm>
          <a:prstGeom prst="rect">
            <a:avLst/>
          </a:prstGeom>
          <a:noFill/>
          <a:ln/>
        </p:spPr>
        <p:txBody>
          <a:bodyPr wrap="square" lIns="0" tIns="0" rIns="0" bIns="0" rtlCol="0" anchor="ctr"/>
          <a:lstStyle/>
          <a:p>
            <a:pPr indent="0" marL="0">
              <a:buNone/>
            </a:pPr>
            <a:r>
              <a:rPr lang="en-US" sz="2600" b="1" dirty="0">
                <a:solidFill>
                  <a:schemeClr val="accent5"/>
                </a:solidFill>
                <a:latin typeface="Cambria" pitchFamily="34" charset="0"/>
                <a:ea typeface="Cambria" pitchFamily="34" charset="-122"/>
                <a:cs typeface="Cambria" pitchFamily="34" charset="-120"/>
              </a:rPr>
              <a:t>The AI necklace</a:t>
            </a:r>
            <a:endParaRPr lang="en-US" sz="2600" dirty="0"/>
          </a:p>
        </p:txBody>
      </p:sp>
      <p:sp>
        <p:nvSpPr>
          <p:cNvPr id="12" name="Text 8"/>
          <p:cNvSpPr txBox="1"/>
          <p:nvPr/>
        </p:nvSpPr>
        <p:spPr>
          <a:xfrm>
            <a:off x="6675120" y="2926080"/>
            <a:ext cx="4663440" cy="21945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Hold the button, say how you feel</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Hear a calm reply from its own speaker</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The voice check-in appears in the app</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For moments you won't open an app</a:t>
            </a:r>
            <a:endParaRPr lang="en-US" sz="1700" dirty="0"/>
          </a:p>
        </p:txBody>
      </p:sp>
      <p:sp>
        <p:nvSpPr>
          <p:cNvPr id="13" name="principle band"/>
          <p:cNvSpPr/>
          <p:nvPr/>
        </p:nvSpPr>
        <p:spPr>
          <a:xfrm>
            <a:off x="548640" y="5577840"/>
            <a:ext cx="11109960" cy="594360"/>
          </a:xfrm>
          <a:prstGeom prst="roundRect">
            <a:avLst>
              <a:gd name="adj" fmla="val 49231"/>
            </a:avLst>
          </a:prstGeom>
          <a:solidFill>
            <a:schemeClr val="tx2"/>
          </a:solidFill>
          <a:ln w="12700">
            <a:solidFill>
              <a:schemeClr val="tx2"/>
            </a:solidFill>
            <a:prstDash val="solid"/>
          </a:ln>
        </p:spPr>
      </p:sp>
      <p:sp>
        <p:nvSpPr>
          <p:cNvPr id="14" name="Text 10"/>
          <p:cNvSpPr txBox="1"/>
          <p:nvPr/>
        </p:nvSpPr>
        <p:spPr>
          <a:xfrm>
            <a:off x="548640" y="5577840"/>
            <a:ext cx="11109960" cy="59436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Compares you with yourself  ·  Shows the proof  ·  Never diagnoses  ·  Points to real people</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From a 30-second check-in to the right next step</a:t>
            </a:r>
            <a:endParaRPr lang="en-US" sz="3600" dirty="0"/>
          </a:p>
        </p:txBody>
      </p:sp>
      <p:sp>
        <p:nvSpPr>
          <p:cNvPr id="3" name="card"/>
          <p:cNvSpPr/>
          <p:nvPr/>
        </p:nvSpPr>
        <p:spPr>
          <a:xfrm>
            <a:off x="548640" y="1508760"/>
            <a:ext cx="2057400" cy="3291840"/>
          </a:xfrm>
          <a:prstGeom prst="roundRect">
            <a:avLst>
              <a:gd name="adj" fmla="val 8000"/>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4" name="icon circle"/>
          <p:cNvSpPr/>
          <p:nvPr/>
        </p:nvSpPr>
        <p:spPr>
          <a:xfrm>
            <a:off x="1165860" y="1783080"/>
            <a:ext cx="822960" cy="82296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1363370" y="1980590"/>
            <a:ext cx="427939" cy="427939"/>
          </a:xfrm>
          <a:prstGeom prst="rect">
            <a:avLst/>
          </a:prstGeom>
        </p:spPr>
      </p:pic>
      <p:sp>
        <p:nvSpPr>
          <p:cNvPr id="6" name="Text 3"/>
          <p:cNvSpPr txBox="1"/>
          <p:nvPr/>
        </p:nvSpPr>
        <p:spPr>
          <a:xfrm>
            <a:off x="685800" y="2743200"/>
            <a:ext cx="1783080" cy="457200"/>
          </a:xfrm>
          <a:prstGeom prst="rect">
            <a:avLst/>
          </a:prstGeom>
          <a:noFill/>
          <a:ln/>
        </p:spPr>
        <p:txBody>
          <a:bodyPr wrap="square" lIns="0" tIns="0" rIns="0" bIns="0" rtlCol="0" anchor="t"/>
          <a:lstStyle/>
          <a:p>
            <a:pPr algn="ctr" indent="0" marL="0">
              <a:buNone/>
            </a:pPr>
            <a:r>
              <a:rPr lang="en-US" sz="1700" b="1" dirty="0">
                <a:solidFill>
                  <a:schemeClr val="accent1"/>
                </a:solidFill>
                <a:latin typeface="Calibri" pitchFamily="34" charset="0"/>
                <a:ea typeface="Calibri" pitchFamily="34" charset="-122"/>
                <a:cs typeface="Calibri" pitchFamily="34" charset="-120"/>
              </a:rPr>
              <a:t>Check in</a:t>
            </a:r>
            <a:endParaRPr lang="en-US" sz="1700" dirty="0"/>
          </a:p>
        </p:txBody>
      </p:sp>
      <p:sp>
        <p:nvSpPr>
          <p:cNvPr id="7" name="Text 4"/>
          <p:cNvSpPr txBox="1"/>
          <p:nvPr/>
        </p:nvSpPr>
        <p:spPr>
          <a:xfrm>
            <a:off x="731520" y="3246120"/>
            <a:ext cx="1691640" cy="14630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Mood, stress, energy, sleep, "talked to someone you like?" Tap or voice.</a:t>
            </a:r>
            <a:endParaRPr lang="en-US" sz="1400" dirty="0"/>
          </a:p>
        </p:txBody>
      </p:sp>
      <p:sp>
        <p:nvSpPr>
          <p:cNvPr id="8" name="arrow"/>
          <p:cNvSpPr/>
          <p:nvPr/>
        </p:nvSpPr>
        <p:spPr>
          <a:xfrm rot="5400000">
            <a:off x="2633472" y="3017520"/>
            <a:ext cx="155448" cy="274320"/>
          </a:xfrm>
          <a:prstGeom prst="triangle">
            <a:avLst/>
          </a:prstGeom>
          <a:solidFill>
            <a:schemeClr val="accent6"/>
          </a:solidFill>
          <a:ln w="12700">
            <a:solidFill>
              <a:schemeClr val="accent6"/>
            </a:solidFill>
            <a:prstDash val="solid"/>
          </a:ln>
        </p:spPr>
      </p:sp>
      <p:sp>
        <p:nvSpPr>
          <p:cNvPr id="9" name="card"/>
          <p:cNvSpPr/>
          <p:nvPr/>
        </p:nvSpPr>
        <p:spPr>
          <a:xfrm>
            <a:off x="2811780" y="1508760"/>
            <a:ext cx="2057400" cy="3291840"/>
          </a:xfrm>
          <a:prstGeom prst="roundRect">
            <a:avLst>
              <a:gd name="adj" fmla="val 8000"/>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10" name="icon circle"/>
          <p:cNvSpPr/>
          <p:nvPr/>
        </p:nvSpPr>
        <p:spPr>
          <a:xfrm>
            <a:off x="3429000" y="1783080"/>
            <a:ext cx="822960" cy="822960"/>
          </a:xfrm>
          <a:prstGeom prst="ellipse">
            <a:avLst/>
          </a:prstGeom>
          <a:solidFill>
            <a:schemeClr val="accent5"/>
          </a:solidFill>
          <a:ln w="12700">
            <a:solidFill>
              <a:schemeClr val="accent5"/>
            </a:solidFill>
            <a:prstDash val="solid"/>
          </a:ln>
        </p:spPr>
      </p:sp>
      <p:pic>
        <p:nvPicPr>
          <p:cNvPr id="11" name="icon" descr="preencoded.png">    </p:cNvPr>
          <p:cNvPicPr>
            <a:picLocks noChangeAspect="1"/>
          </p:cNvPicPr>
          <p:nvPr/>
        </p:nvPicPr>
        <p:blipFill>
          <a:blip r:embed="rId2"/>
          <a:stretch>
            <a:fillRect/>
          </a:stretch>
        </p:blipFill>
        <p:spPr>
          <a:xfrm>
            <a:off x="3626510" y="1980590"/>
            <a:ext cx="427939" cy="427939"/>
          </a:xfrm>
          <a:prstGeom prst="rect">
            <a:avLst/>
          </a:prstGeom>
        </p:spPr>
      </p:pic>
      <p:sp>
        <p:nvSpPr>
          <p:cNvPr id="12" name="Text 8"/>
          <p:cNvSpPr txBox="1"/>
          <p:nvPr/>
        </p:nvSpPr>
        <p:spPr>
          <a:xfrm>
            <a:off x="2948940" y="2743200"/>
            <a:ext cx="1783080" cy="457200"/>
          </a:xfrm>
          <a:prstGeom prst="rect">
            <a:avLst/>
          </a:prstGeom>
          <a:noFill/>
          <a:ln/>
        </p:spPr>
        <p:txBody>
          <a:bodyPr wrap="square" lIns="0" tIns="0" rIns="0" bIns="0" rtlCol="0" anchor="t"/>
          <a:lstStyle/>
          <a:p>
            <a:pPr algn="ctr" indent="0" marL="0">
              <a:buNone/>
            </a:pPr>
            <a:r>
              <a:rPr lang="en-US" sz="1700" b="1" dirty="0">
                <a:solidFill>
                  <a:schemeClr val="accent5"/>
                </a:solidFill>
                <a:latin typeface="Calibri" pitchFamily="34" charset="0"/>
                <a:ea typeface="Calibri" pitchFamily="34" charset="-122"/>
                <a:cs typeface="Calibri" pitchFamily="34" charset="-120"/>
              </a:rPr>
              <a:t>Your own normal</a:t>
            </a:r>
            <a:endParaRPr lang="en-US" sz="1700" dirty="0"/>
          </a:p>
        </p:txBody>
      </p:sp>
      <p:sp>
        <p:nvSpPr>
          <p:cNvPr id="13" name="Text 9"/>
          <p:cNvSpPr txBox="1"/>
          <p:nvPr/>
        </p:nvSpPr>
        <p:spPr>
          <a:xfrm>
            <a:off x="2994660" y="3246120"/>
            <a:ext cx="1691640" cy="14630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Median of your previous 2 weeks. Needs 5 days before judging.</a:t>
            </a:r>
            <a:endParaRPr lang="en-US" sz="1400" dirty="0"/>
          </a:p>
        </p:txBody>
      </p:sp>
      <p:sp>
        <p:nvSpPr>
          <p:cNvPr id="14" name="arrow"/>
          <p:cNvSpPr/>
          <p:nvPr/>
        </p:nvSpPr>
        <p:spPr>
          <a:xfrm rot="5400000">
            <a:off x="4896612" y="3017520"/>
            <a:ext cx="155448" cy="274320"/>
          </a:xfrm>
          <a:prstGeom prst="triangle">
            <a:avLst/>
          </a:prstGeom>
          <a:solidFill>
            <a:schemeClr val="accent6"/>
          </a:solidFill>
          <a:ln w="12700">
            <a:solidFill>
              <a:schemeClr val="accent6"/>
            </a:solidFill>
            <a:prstDash val="solid"/>
          </a:ln>
        </p:spPr>
      </p:sp>
      <p:sp>
        <p:nvSpPr>
          <p:cNvPr id="15" name="card"/>
          <p:cNvSpPr/>
          <p:nvPr/>
        </p:nvSpPr>
        <p:spPr>
          <a:xfrm>
            <a:off x="5074920" y="1508760"/>
            <a:ext cx="2057400" cy="3291840"/>
          </a:xfrm>
          <a:prstGeom prst="roundRect">
            <a:avLst>
              <a:gd name="adj" fmla="val 8000"/>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16" name="icon circle"/>
          <p:cNvSpPr/>
          <p:nvPr/>
        </p:nvSpPr>
        <p:spPr>
          <a:xfrm>
            <a:off x="5692140" y="1783080"/>
            <a:ext cx="822960" cy="822960"/>
          </a:xfrm>
          <a:prstGeom prst="ellipse">
            <a:avLst/>
          </a:prstGeom>
          <a:solidFill>
            <a:schemeClr val="accent3"/>
          </a:solidFill>
          <a:ln w="12700">
            <a:solidFill>
              <a:schemeClr val="accent3"/>
            </a:solidFill>
            <a:prstDash val="solid"/>
          </a:ln>
        </p:spPr>
      </p:sp>
      <p:pic>
        <p:nvPicPr>
          <p:cNvPr id="17" name="icon" descr="preencoded.png">    </p:cNvPr>
          <p:cNvPicPr>
            <a:picLocks noChangeAspect="1"/>
          </p:cNvPicPr>
          <p:nvPr/>
        </p:nvPicPr>
        <p:blipFill>
          <a:blip r:embed="rId3"/>
          <a:stretch>
            <a:fillRect/>
          </a:stretch>
        </p:blipFill>
        <p:spPr>
          <a:xfrm>
            <a:off x="5889650" y="1980590"/>
            <a:ext cx="427939" cy="427939"/>
          </a:xfrm>
          <a:prstGeom prst="rect">
            <a:avLst/>
          </a:prstGeom>
        </p:spPr>
      </p:pic>
      <p:sp>
        <p:nvSpPr>
          <p:cNvPr id="18" name="Text 13"/>
          <p:cNvSpPr txBox="1"/>
          <p:nvPr/>
        </p:nvSpPr>
        <p:spPr>
          <a:xfrm>
            <a:off x="5212080" y="2743200"/>
            <a:ext cx="1783080" cy="457200"/>
          </a:xfrm>
          <a:prstGeom prst="rect">
            <a:avLst/>
          </a:prstGeom>
          <a:noFill/>
          <a:ln/>
        </p:spPr>
        <p:txBody>
          <a:bodyPr wrap="square" lIns="0" tIns="0" rIns="0" bIns="0" rtlCol="0" anchor="t"/>
          <a:lstStyle/>
          <a:p>
            <a:pPr algn="ctr" indent="0" marL="0">
              <a:buNone/>
            </a:pPr>
            <a:r>
              <a:rPr lang="en-US" sz="1700" b="1" dirty="0">
                <a:solidFill>
                  <a:schemeClr val="accent3"/>
                </a:solidFill>
                <a:latin typeface="Calibri" pitchFamily="34" charset="0"/>
                <a:ea typeface="Calibri" pitchFamily="34" charset="-122"/>
                <a:cs typeface="Calibri" pitchFamily="34" charset="-120"/>
              </a:rPr>
              <a:t>5 signals + proof</a:t>
            </a:r>
            <a:endParaRPr lang="en-US" sz="1700" dirty="0"/>
          </a:p>
        </p:txBody>
      </p:sp>
      <p:sp>
        <p:nvSpPr>
          <p:cNvPr id="19" name="Text 14"/>
          <p:cNvSpPr txBox="1"/>
          <p:nvPr/>
        </p:nvSpPr>
        <p:spPr>
          <a:xfrm>
            <a:off x="5257800" y="3246120"/>
            <a:ext cx="1691640" cy="14630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Last 3 days vs your normal: steady, watch or needs care.</a:t>
            </a:r>
            <a:endParaRPr lang="en-US" sz="1400" dirty="0"/>
          </a:p>
        </p:txBody>
      </p:sp>
      <p:sp>
        <p:nvSpPr>
          <p:cNvPr id="20" name="arrow"/>
          <p:cNvSpPr/>
          <p:nvPr/>
        </p:nvSpPr>
        <p:spPr>
          <a:xfrm rot="5400000">
            <a:off x="7159752" y="3017520"/>
            <a:ext cx="155448" cy="274320"/>
          </a:xfrm>
          <a:prstGeom prst="triangle">
            <a:avLst/>
          </a:prstGeom>
          <a:solidFill>
            <a:schemeClr val="accent6"/>
          </a:solidFill>
          <a:ln w="12700">
            <a:solidFill>
              <a:schemeClr val="accent6"/>
            </a:solidFill>
            <a:prstDash val="solid"/>
          </a:ln>
        </p:spPr>
      </p:sp>
      <p:sp>
        <p:nvSpPr>
          <p:cNvPr id="21" name="card"/>
          <p:cNvSpPr/>
          <p:nvPr/>
        </p:nvSpPr>
        <p:spPr>
          <a:xfrm>
            <a:off x="7338060" y="1508760"/>
            <a:ext cx="2057400" cy="3291840"/>
          </a:xfrm>
          <a:prstGeom prst="roundRect">
            <a:avLst>
              <a:gd name="adj" fmla="val 8000"/>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22" name="icon circle"/>
          <p:cNvSpPr/>
          <p:nvPr/>
        </p:nvSpPr>
        <p:spPr>
          <a:xfrm>
            <a:off x="7955280" y="1783080"/>
            <a:ext cx="822960" cy="822960"/>
          </a:xfrm>
          <a:prstGeom prst="ellipse">
            <a:avLst/>
          </a:prstGeom>
          <a:solidFill>
            <a:schemeClr val="accent4"/>
          </a:solidFill>
          <a:ln w="12700">
            <a:solidFill>
              <a:schemeClr val="accent4"/>
            </a:solidFill>
            <a:prstDash val="solid"/>
          </a:ln>
        </p:spPr>
      </p:sp>
      <p:pic>
        <p:nvPicPr>
          <p:cNvPr id="23" name="icon" descr="preencoded.png">    </p:cNvPr>
          <p:cNvPicPr>
            <a:picLocks noChangeAspect="1"/>
          </p:cNvPicPr>
          <p:nvPr/>
        </p:nvPicPr>
        <p:blipFill>
          <a:blip r:embed="rId4"/>
          <a:stretch>
            <a:fillRect/>
          </a:stretch>
        </p:blipFill>
        <p:spPr>
          <a:xfrm>
            <a:off x="8152790" y="1980590"/>
            <a:ext cx="427939" cy="427939"/>
          </a:xfrm>
          <a:prstGeom prst="rect">
            <a:avLst/>
          </a:prstGeom>
        </p:spPr>
      </p:pic>
      <p:sp>
        <p:nvSpPr>
          <p:cNvPr id="24" name="Text 18"/>
          <p:cNvSpPr txBox="1"/>
          <p:nvPr/>
        </p:nvSpPr>
        <p:spPr>
          <a:xfrm>
            <a:off x="7475220" y="2743200"/>
            <a:ext cx="1783080" cy="457200"/>
          </a:xfrm>
          <a:prstGeom prst="rect">
            <a:avLst/>
          </a:prstGeom>
          <a:noFill/>
          <a:ln/>
        </p:spPr>
        <p:txBody>
          <a:bodyPr wrap="square" lIns="0" tIns="0" rIns="0" bIns="0" rtlCol="0" anchor="t"/>
          <a:lstStyle/>
          <a:p>
            <a:pPr algn="ctr" indent="0" marL="0">
              <a:buNone/>
            </a:pPr>
            <a:r>
              <a:rPr lang="en-US" sz="1700" b="1" dirty="0">
                <a:solidFill>
                  <a:schemeClr val="accent4"/>
                </a:solidFill>
                <a:latin typeface="Calibri" pitchFamily="34" charset="0"/>
                <a:ea typeface="Calibri" pitchFamily="34" charset="-122"/>
                <a:cs typeface="Calibri" pitchFamily="34" charset="-120"/>
              </a:rPr>
              <a:t>Mind weather</a:t>
            </a:r>
            <a:endParaRPr lang="en-US" sz="1700" dirty="0"/>
          </a:p>
        </p:txBody>
      </p:sp>
      <p:sp>
        <p:nvSpPr>
          <p:cNvPr id="25" name="Text 19"/>
          <p:cNvSpPr txBox="1"/>
          <p:nvPr/>
        </p:nvSpPr>
        <p:spPr>
          <a:xfrm>
            <a:off x="7520940" y="3246120"/>
            <a:ext cx="1691640" cy="14630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Clear skies, passing clouds, soft rain, heavy skies.</a:t>
            </a:r>
            <a:endParaRPr lang="en-US" sz="1400" dirty="0"/>
          </a:p>
        </p:txBody>
      </p:sp>
      <p:sp>
        <p:nvSpPr>
          <p:cNvPr id="26" name="arrow"/>
          <p:cNvSpPr/>
          <p:nvPr/>
        </p:nvSpPr>
        <p:spPr>
          <a:xfrm rot="5400000">
            <a:off x="9422892" y="3017520"/>
            <a:ext cx="155448" cy="274320"/>
          </a:xfrm>
          <a:prstGeom prst="triangle">
            <a:avLst/>
          </a:prstGeom>
          <a:solidFill>
            <a:schemeClr val="accent6"/>
          </a:solidFill>
          <a:ln w="12700">
            <a:solidFill>
              <a:schemeClr val="accent6"/>
            </a:solidFill>
            <a:prstDash val="solid"/>
          </a:ln>
        </p:spPr>
      </p:sp>
      <p:sp>
        <p:nvSpPr>
          <p:cNvPr id="27" name="card"/>
          <p:cNvSpPr/>
          <p:nvPr/>
        </p:nvSpPr>
        <p:spPr>
          <a:xfrm>
            <a:off x="9601200" y="1508760"/>
            <a:ext cx="2057400" cy="3291840"/>
          </a:xfrm>
          <a:prstGeom prst="roundRect">
            <a:avLst>
              <a:gd name="adj" fmla="val 8000"/>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28" name="icon circle"/>
          <p:cNvSpPr/>
          <p:nvPr/>
        </p:nvSpPr>
        <p:spPr>
          <a:xfrm>
            <a:off x="10218420" y="1783080"/>
            <a:ext cx="822960" cy="822960"/>
          </a:xfrm>
          <a:prstGeom prst="ellipse">
            <a:avLst/>
          </a:prstGeom>
          <a:solidFill>
            <a:schemeClr val="tx2"/>
          </a:solidFill>
          <a:ln w="12700">
            <a:solidFill>
              <a:schemeClr val="tx2"/>
            </a:solidFill>
            <a:prstDash val="solid"/>
          </a:ln>
        </p:spPr>
      </p:sp>
      <p:pic>
        <p:nvPicPr>
          <p:cNvPr id="29" name="icon" descr="preencoded.png">    </p:cNvPr>
          <p:cNvPicPr>
            <a:picLocks noChangeAspect="1"/>
          </p:cNvPicPr>
          <p:nvPr/>
        </p:nvPicPr>
        <p:blipFill>
          <a:blip r:embed="rId5"/>
          <a:stretch>
            <a:fillRect/>
          </a:stretch>
        </p:blipFill>
        <p:spPr>
          <a:xfrm>
            <a:off x="10415930" y="1980590"/>
            <a:ext cx="427939" cy="427939"/>
          </a:xfrm>
          <a:prstGeom prst="rect">
            <a:avLst/>
          </a:prstGeom>
        </p:spPr>
      </p:pic>
      <p:sp>
        <p:nvSpPr>
          <p:cNvPr id="30" name="Text 23"/>
          <p:cNvSpPr txBox="1"/>
          <p:nvPr/>
        </p:nvSpPr>
        <p:spPr>
          <a:xfrm>
            <a:off x="9738360" y="2743200"/>
            <a:ext cx="1783080" cy="457200"/>
          </a:xfrm>
          <a:prstGeom prst="rect">
            <a:avLst/>
          </a:prstGeom>
          <a:noFill/>
          <a:ln/>
        </p:spPr>
        <p:txBody>
          <a:bodyPr wrap="square" lIns="0" tIns="0" rIns="0" bIns="0" rtlCol="0" anchor="t"/>
          <a:lstStyle/>
          <a:p>
            <a:pPr algn="ctr" indent="0" marL="0">
              <a:buNone/>
            </a:pPr>
            <a:r>
              <a:rPr lang="en-US" sz="1700" b="1" dirty="0">
                <a:solidFill>
                  <a:schemeClr val="tx2"/>
                </a:solidFill>
                <a:latin typeface="Calibri" pitchFamily="34" charset="0"/>
                <a:ea typeface="Calibri" pitchFamily="34" charset="-122"/>
                <a:cs typeface="Calibri" pitchFamily="34" charset="-120"/>
              </a:rPr>
              <a:t>Support ladder</a:t>
            </a:r>
            <a:endParaRPr lang="en-US" sz="1700" dirty="0"/>
          </a:p>
        </p:txBody>
      </p:sp>
      <p:sp>
        <p:nvSpPr>
          <p:cNvPr id="31" name="Text 24"/>
          <p:cNvSpPr txBox="1"/>
          <p:nvPr/>
        </p:nvSpPr>
        <p:spPr>
          <a:xfrm>
            <a:off x="9784080" y="3246120"/>
            <a:ext cx="1691640" cy="14630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One small step, a friend, or someone trained.</a:t>
            </a:r>
            <a:endParaRPr lang="en-US" sz="1400" dirty="0"/>
          </a:p>
        </p:txBody>
      </p:sp>
      <p:sp>
        <p:nvSpPr>
          <p:cNvPr id="32" name="card"/>
          <p:cNvSpPr/>
          <p:nvPr/>
        </p:nvSpPr>
        <p:spPr>
          <a:xfrm>
            <a:off x="548640" y="5029200"/>
            <a:ext cx="11109960" cy="1143000"/>
          </a:xfrm>
          <a:prstGeom prst="roundRect">
            <a:avLst>
              <a:gd name="adj" fmla="val 14400"/>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33" name="Text 26"/>
          <p:cNvSpPr txBox="1"/>
          <p:nvPr/>
        </p:nvSpPr>
        <p:spPr>
          <a:xfrm>
            <a:off x="868680" y="5029200"/>
            <a:ext cx="10515600" cy="114300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Code calculates, AI only explains.  </a:t>
            </a:r>
            <a:pPr indent="0" marL="0">
              <a:buNone/>
            </a:pPr>
            <a:r>
              <a:rPr lang="en-US" sz="1600" dirty="0">
                <a:solidFill>
                  <a:schemeClr val="tx1"/>
                </a:solidFill>
                <a:latin typeface="Calibri" pitchFamily="34" charset="0"/>
                <a:ea typeface="Calibri" pitchFamily="34" charset="-122"/>
                <a:cs typeface="Calibri" pitchFamily="34" charset="-120"/>
              </a:rPr>
              <a:t>Every number comes from a plain, unit-tested engine. The AI only puts those numbers into kind words, so it can't invent your data.</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Five signals, mapped one-to-one to the problem</a:t>
            </a:r>
            <a:endParaRPr lang="en-US" sz="3600" dirty="0"/>
          </a:p>
        </p:txBody>
      </p:sp>
      <p:sp>
        <p:nvSpPr>
          <p:cNvPr id="3" name="card"/>
          <p:cNvSpPr/>
          <p:nvPr/>
        </p:nvSpPr>
        <p:spPr>
          <a:xfrm>
            <a:off x="548640" y="1417320"/>
            <a:ext cx="6858000" cy="640080"/>
          </a:xfrm>
          <a:prstGeom prst="roundRect">
            <a:avLst>
              <a:gd name="adj" fmla="val 25714"/>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4" name="icon circle"/>
          <p:cNvSpPr/>
          <p:nvPr/>
        </p:nvSpPr>
        <p:spPr>
          <a:xfrm>
            <a:off x="685800" y="1508760"/>
            <a:ext cx="457200" cy="457200"/>
          </a:xfrm>
          <a:prstGeom prst="ellipse">
            <a:avLst/>
          </a:prstGeom>
          <a:solidFill>
            <a:schemeClr val="accent3"/>
          </a:solidFill>
          <a:ln w="12700">
            <a:solidFill>
              <a:schemeClr val="accent3"/>
            </a:solidFill>
            <a:prstDash val="solid"/>
          </a:ln>
        </p:spPr>
      </p:sp>
      <p:pic>
        <p:nvPicPr>
          <p:cNvPr id="5" name="icon" descr="preencoded.png">    </p:cNvPr>
          <p:cNvPicPr>
            <a:picLocks noChangeAspect="1"/>
          </p:cNvPicPr>
          <p:nvPr/>
        </p:nvPicPr>
        <p:blipFill>
          <a:blip r:embed="rId1"/>
          <a:stretch>
            <a:fillRect/>
          </a:stretch>
        </p:blipFill>
        <p:spPr>
          <a:xfrm>
            <a:off x="795528" y="1618488"/>
            <a:ext cx="237744" cy="237744"/>
          </a:xfrm>
          <a:prstGeom prst="rect">
            <a:avLst/>
          </a:prstGeom>
        </p:spPr>
      </p:pic>
      <p:sp>
        <p:nvSpPr>
          <p:cNvPr id="6" name="Text 3"/>
          <p:cNvSpPr txBox="1"/>
          <p:nvPr/>
        </p:nvSpPr>
        <p:spPr>
          <a:xfrm>
            <a:off x="1325880" y="1417320"/>
            <a:ext cx="1463040" cy="640080"/>
          </a:xfrm>
          <a:prstGeom prst="rect">
            <a:avLst/>
          </a:prstGeom>
          <a:noFill/>
          <a:ln/>
        </p:spPr>
        <p:txBody>
          <a:bodyPr wrap="square" lIns="0" tIns="0" rIns="0" bIns="0" rtlCol="0" anchor="ctr"/>
          <a:lstStyle/>
          <a:p>
            <a:pPr indent="0" marL="0">
              <a:buNone/>
            </a:pPr>
            <a:r>
              <a:rPr lang="en-US" sz="1700" b="1" dirty="0">
                <a:solidFill>
                  <a:schemeClr val="accent3"/>
                </a:solidFill>
                <a:latin typeface="Calibri" pitchFamily="34" charset="0"/>
                <a:ea typeface="Calibri" pitchFamily="34" charset="-122"/>
                <a:cs typeface="Calibri" pitchFamily="34" charset="-120"/>
              </a:rPr>
              <a:t>Pressure</a:t>
            </a:r>
            <a:endParaRPr lang="en-US" sz="1700" dirty="0"/>
          </a:p>
        </p:txBody>
      </p:sp>
      <p:sp>
        <p:nvSpPr>
          <p:cNvPr id="7" name="Text 4"/>
          <p:cNvSpPr txBox="1"/>
          <p:nvPr/>
        </p:nvSpPr>
        <p:spPr>
          <a:xfrm>
            <a:off x="2788920" y="1417320"/>
            <a:ext cx="1691640" cy="640080"/>
          </a:xfrm>
          <a:prstGeom prst="rect">
            <a:avLst/>
          </a:prstGeom>
          <a:noFill/>
          <a:ln/>
        </p:spPr>
        <p:txBody>
          <a:bodyPr wrap="square" lIns="0" tIns="0" rIns="0" bIns="0" rtlCol="0" anchor="ctr"/>
          <a:lstStyle/>
          <a:p>
            <a:pPr indent="0" marL="0">
              <a:buNone/>
            </a:pPr>
            <a:r>
              <a:rPr lang="en-US" sz="1300" i="1" dirty="0">
                <a:solidFill>
                  <a:schemeClr val="tx1"/>
                </a:solidFill>
                <a:latin typeface="Calibri" pitchFamily="34" charset="0"/>
                <a:ea typeface="Calibri" pitchFamily="34" charset="-122"/>
                <a:cs typeface="Calibri" pitchFamily="34" charset="-120"/>
              </a:rPr>
              <a:t>Academic pressure</a:t>
            </a:r>
            <a:endParaRPr lang="en-US" sz="1300" dirty="0"/>
          </a:p>
        </p:txBody>
      </p:sp>
      <p:sp>
        <p:nvSpPr>
          <p:cNvPr id="8" name="Text 5"/>
          <p:cNvSpPr txBox="1"/>
          <p:nvPr/>
        </p:nvSpPr>
        <p:spPr>
          <a:xfrm>
            <a:off x="4480560" y="1417320"/>
            <a:ext cx="28346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Stress check-ins + hours of work due vs hours planned</a:t>
            </a:r>
            <a:endParaRPr lang="en-US" sz="1300" dirty="0"/>
          </a:p>
        </p:txBody>
      </p:sp>
      <p:sp>
        <p:nvSpPr>
          <p:cNvPr id="9" name="card"/>
          <p:cNvSpPr/>
          <p:nvPr/>
        </p:nvSpPr>
        <p:spPr>
          <a:xfrm>
            <a:off x="548640" y="2176272"/>
            <a:ext cx="6858000" cy="640080"/>
          </a:xfrm>
          <a:prstGeom prst="roundRect">
            <a:avLst>
              <a:gd name="adj" fmla="val 25714"/>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10" name="icon circle"/>
          <p:cNvSpPr/>
          <p:nvPr/>
        </p:nvSpPr>
        <p:spPr>
          <a:xfrm>
            <a:off x="685800" y="2267712"/>
            <a:ext cx="457200" cy="457200"/>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2"/>
          <a:stretch>
            <a:fillRect/>
          </a:stretch>
        </p:blipFill>
        <p:spPr>
          <a:xfrm>
            <a:off x="795528" y="2377440"/>
            <a:ext cx="237744" cy="237744"/>
          </a:xfrm>
          <a:prstGeom prst="rect">
            <a:avLst/>
          </a:prstGeom>
        </p:spPr>
      </p:pic>
      <p:sp>
        <p:nvSpPr>
          <p:cNvPr id="12" name="Text 8"/>
          <p:cNvSpPr txBox="1"/>
          <p:nvPr/>
        </p:nvSpPr>
        <p:spPr>
          <a:xfrm>
            <a:off x="1325880" y="2176272"/>
            <a:ext cx="1463040" cy="640080"/>
          </a:xfrm>
          <a:prstGeom prst="rect">
            <a:avLst/>
          </a:prstGeom>
          <a:noFill/>
          <a:ln/>
        </p:spPr>
        <p:txBody>
          <a:bodyPr wrap="square" lIns="0" tIns="0" rIns="0" bIns="0" rtlCol="0" anchor="ctr"/>
          <a:lstStyle/>
          <a:p>
            <a:pPr indent="0" marL="0">
              <a:buNone/>
            </a:pPr>
            <a:r>
              <a:rPr lang="en-US" sz="1700" b="1" dirty="0">
                <a:solidFill>
                  <a:schemeClr val="accent1"/>
                </a:solidFill>
                <a:latin typeface="Calibri" pitchFamily="34" charset="0"/>
                <a:ea typeface="Calibri" pitchFamily="34" charset="-122"/>
                <a:cs typeface="Calibri" pitchFamily="34" charset="-120"/>
              </a:rPr>
              <a:t>Sleep</a:t>
            </a:r>
            <a:endParaRPr lang="en-US" sz="1700" dirty="0"/>
          </a:p>
        </p:txBody>
      </p:sp>
      <p:sp>
        <p:nvSpPr>
          <p:cNvPr id="13" name="Text 9"/>
          <p:cNvSpPr txBox="1"/>
          <p:nvPr/>
        </p:nvSpPr>
        <p:spPr>
          <a:xfrm>
            <a:off x="2788920" y="2176272"/>
            <a:ext cx="1691640" cy="640080"/>
          </a:xfrm>
          <a:prstGeom prst="rect">
            <a:avLst/>
          </a:prstGeom>
          <a:noFill/>
          <a:ln/>
        </p:spPr>
        <p:txBody>
          <a:bodyPr wrap="square" lIns="0" tIns="0" rIns="0" bIns="0" rtlCol="0" anchor="ctr"/>
          <a:lstStyle/>
          <a:p>
            <a:pPr indent="0" marL="0">
              <a:buNone/>
            </a:pPr>
            <a:r>
              <a:rPr lang="en-US" sz="1300" i="1" dirty="0">
                <a:solidFill>
                  <a:schemeClr val="tx1"/>
                </a:solidFill>
                <a:latin typeface="Calibri" pitchFamily="34" charset="0"/>
                <a:ea typeface="Calibri" pitchFamily="34" charset="-122"/>
                <a:cs typeface="Calibri" pitchFamily="34" charset="-120"/>
              </a:rPr>
              <a:t>Poor sleep</a:t>
            </a:r>
            <a:endParaRPr lang="en-US" sz="1300" dirty="0"/>
          </a:p>
        </p:txBody>
      </p:sp>
      <p:sp>
        <p:nvSpPr>
          <p:cNvPr id="14" name="Text 10"/>
          <p:cNvSpPr txBox="1"/>
          <p:nvPr/>
        </p:nvSpPr>
        <p:spPr>
          <a:xfrm>
            <a:off x="4480560" y="2176272"/>
            <a:ext cx="28346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Hours slept, last 3 nights vs your usual</a:t>
            </a:r>
            <a:endParaRPr lang="en-US" sz="1300" dirty="0"/>
          </a:p>
        </p:txBody>
      </p:sp>
      <p:sp>
        <p:nvSpPr>
          <p:cNvPr id="15" name="card"/>
          <p:cNvSpPr/>
          <p:nvPr/>
        </p:nvSpPr>
        <p:spPr>
          <a:xfrm>
            <a:off x="548640" y="2935224"/>
            <a:ext cx="6858000" cy="640080"/>
          </a:xfrm>
          <a:prstGeom prst="roundRect">
            <a:avLst>
              <a:gd name="adj" fmla="val 25714"/>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16" name="icon circle"/>
          <p:cNvSpPr/>
          <p:nvPr/>
        </p:nvSpPr>
        <p:spPr>
          <a:xfrm>
            <a:off x="685800" y="3026664"/>
            <a:ext cx="457200" cy="457200"/>
          </a:xfrm>
          <a:prstGeom prst="ellipse">
            <a:avLst/>
          </a:prstGeom>
          <a:solidFill>
            <a:schemeClr val="accent5"/>
          </a:solidFill>
          <a:ln w="12700">
            <a:solidFill>
              <a:schemeClr val="accent5"/>
            </a:solidFill>
            <a:prstDash val="solid"/>
          </a:ln>
        </p:spPr>
      </p:sp>
      <p:pic>
        <p:nvPicPr>
          <p:cNvPr id="17" name="icon" descr="preencoded.png">    </p:cNvPr>
          <p:cNvPicPr>
            <a:picLocks noChangeAspect="1"/>
          </p:cNvPicPr>
          <p:nvPr/>
        </p:nvPicPr>
        <p:blipFill>
          <a:blip r:embed="rId3"/>
          <a:stretch>
            <a:fillRect/>
          </a:stretch>
        </p:blipFill>
        <p:spPr>
          <a:xfrm>
            <a:off x="795528" y="3136392"/>
            <a:ext cx="237744" cy="237744"/>
          </a:xfrm>
          <a:prstGeom prst="rect">
            <a:avLst/>
          </a:prstGeom>
        </p:spPr>
      </p:pic>
      <p:sp>
        <p:nvSpPr>
          <p:cNvPr id="18" name="Text 13"/>
          <p:cNvSpPr txBox="1"/>
          <p:nvPr/>
        </p:nvSpPr>
        <p:spPr>
          <a:xfrm>
            <a:off x="1325880" y="2935224"/>
            <a:ext cx="1463040" cy="640080"/>
          </a:xfrm>
          <a:prstGeom prst="rect">
            <a:avLst/>
          </a:prstGeom>
          <a:noFill/>
          <a:ln/>
        </p:spPr>
        <p:txBody>
          <a:bodyPr wrap="square" lIns="0" tIns="0" rIns="0" bIns="0" rtlCol="0" anchor="ctr"/>
          <a:lstStyle/>
          <a:p>
            <a:pPr indent="0" marL="0">
              <a:buNone/>
            </a:pPr>
            <a:r>
              <a:rPr lang="en-US" sz="1700" b="1" dirty="0">
                <a:solidFill>
                  <a:schemeClr val="accent5"/>
                </a:solidFill>
                <a:latin typeface="Calibri" pitchFamily="34" charset="0"/>
                <a:ea typeface="Calibri" pitchFamily="34" charset="-122"/>
                <a:cs typeface="Calibri" pitchFamily="34" charset="-120"/>
              </a:rPr>
              <a:t>Connection</a:t>
            </a:r>
            <a:endParaRPr lang="en-US" sz="1700" dirty="0"/>
          </a:p>
        </p:txBody>
      </p:sp>
      <p:sp>
        <p:nvSpPr>
          <p:cNvPr id="19" name="Text 14"/>
          <p:cNvSpPr txBox="1"/>
          <p:nvPr/>
        </p:nvSpPr>
        <p:spPr>
          <a:xfrm>
            <a:off x="2788920" y="2935224"/>
            <a:ext cx="1691640" cy="640080"/>
          </a:xfrm>
          <a:prstGeom prst="rect">
            <a:avLst/>
          </a:prstGeom>
          <a:noFill/>
          <a:ln/>
        </p:spPr>
        <p:txBody>
          <a:bodyPr wrap="square" lIns="0" tIns="0" rIns="0" bIns="0" rtlCol="0" anchor="ctr"/>
          <a:lstStyle/>
          <a:p>
            <a:pPr indent="0" marL="0">
              <a:buNone/>
            </a:pPr>
            <a:r>
              <a:rPr lang="en-US" sz="1300" i="1" dirty="0">
                <a:solidFill>
                  <a:schemeClr val="tx1"/>
                </a:solidFill>
                <a:latin typeface="Calibri" pitchFamily="34" charset="0"/>
                <a:ea typeface="Calibri" pitchFamily="34" charset="-122"/>
                <a:cs typeface="Calibri" pitchFamily="34" charset="-120"/>
              </a:rPr>
              <a:t>Isolation</a:t>
            </a:r>
            <a:endParaRPr lang="en-US" sz="1300" dirty="0"/>
          </a:p>
        </p:txBody>
      </p:sp>
      <p:sp>
        <p:nvSpPr>
          <p:cNvPr id="20" name="Text 15"/>
          <p:cNvSpPr txBox="1"/>
          <p:nvPr/>
        </p:nvSpPr>
        <p:spPr>
          <a:xfrm>
            <a:off x="4480560" y="2935224"/>
            <a:ext cx="28346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"Talked to someone you like?" last 4 days vs usual</a:t>
            </a:r>
            <a:endParaRPr lang="en-US" sz="1300" dirty="0"/>
          </a:p>
        </p:txBody>
      </p:sp>
      <p:sp>
        <p:nvSpPr>
          <p:cNvPr id="21" name="card"/>
          <p:cNvSpPr/>
          <p:nvPr/>
        </p:nvSpPr>
        <p:spPr>
          <a:xfrm>
            <a:off x="548640" y="3694176"/>
            <a:ext cx="6858000" cy="640080"/>
          </a:xfrm>
          <a:prstGeom prst="roundRect">
            <a:avLst>
              <a:gd name="adj" fmla="val 25714"/>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22" name="icon circle"/>
          <p:cNvSpPr/>
          <p:nvPr/>
        </p:nvSpPr>
        <p:spPr>
          <a:xfrm>
            <a:off x="685800" y="3785616"/>
            <a:ext cx="457200" cy="457200"/>
          </a:xfrm>
          <a:prstGeom prst="ellipse">
            <a:avLst/>
          </a:prstGeom>
          <a:solidFill>
            <a:schemeClr val="accent4"/>
          </a:solidFill>
          <a:ln w="12700">
            <a:solidFill>
              <a:schemeClr val="accent4"/>
            </a:solidFill>
            <a:prstDash val="solid"/>
          </a:ln>
        </p:spPr>
      </p:sp>
      <p:pic>
        <p:nvPicPr>
          <p:cNvPr id="23" name="icon" descr="preencoded.png">    </p:cNvPr>
          <p:cNvPicPr>
            <a:picLocks noChangeAspect="1"/>
          </p:cNvPicPr>
          <p:nvPr/>
        </p:nvPicPr>
        <p:blipFill>
          <a:blip r:embed="rId4"/>
          <a:stretch>
            <a:fillRect/>
          </a:stretch>
        </p:blipFill>
        <p:spPr>
          <a:xfrm>
            <a:off x="795528" y="3895344"/>
            <a:ext cx="237744" cy="237744"/>
          </a:xfrm>
          <a:prstGeom prst="rect">
            <a:avLst/>
          </a:prstGeom>
        </p:spPr>
      </p:pic>
      <p:sp>
        <p:nvSpPr>
          <p:cNvPr id="24" name="Text 18"/>
          <p:cNvSpPr txBox="1"/>
          <p:nvPr/>
        </p:nvSpPr>
        <p:spPr>
          <a:xfrm>
            <a:off x="1325880" y="3694176"/>
            <a:ext cx="1463040" cy="640080"/>
          </a:xfrm>
          <a:prstGeom prst="rect">
            <a:avLst/>
          </a:prstGeom>
          <a:noFill/>
          <a:ln/>
        </p:spPr>
        <p:txBody>
          <a:bodyPr wrap="square" lIns="0" tIns="0" rIns="0" bIns="0" rtlCol="0" anchor="ctr"/>
          <a:lstStyle/>
          <a:p>
            <a:pPr indent="0" marL="0">
              <a:buNone/>
            </a:pPr>
            <a:r>
              <a:rPr lang="en-US" sz="1700" b="1" dirty="0">
                <a:solidFill>
                  <a:schemeClr val="accent4"/>
                </a:solidFill>
                <a:latin typeface="Calibri" pitchFamily="34" charset="0"/>
                <a:ea typeface="Calibri" pitchFamily="34" charset="-122"/>
                <a:cs typeface="Calibri" pitchFamily="34" charset="-120"/>
              </a:rPr>
              <a:t>Energy</a:t>
            </a:r>
            <a:endParaRPr lang="en-US" sz="1700" dirty="0"/>
          </a:p>
        </p:txBody>
      </p:sp>
      <p:sp>
        <p:nvSpPr>
          <p:cNvPr id="25" name="Text 19"/>
          <p:cNvSpPr txBox="1"/>
          <p:nvPr/>
        </p:nvSpPr>
        <p:spPr>
          <a:xfrm>
            <a:off x="2788920" y="3694176"/>
            <a:ext cx="1691640" cy="640080"/>
          </a:xfrm>
          <a:prstGeom prst="rect">
            <a:avLst/>
          </a:prstGeom>
          <a:noFill/>
          <a:ln/>
        </p:spPr>
        <p:txBody>
          <a:bodyPr wrap="square" lIns="0" tIns="0" rIns="0" bIns="0" rtlCol="0" anchor="ctr"/>
          <a:lstStyle/>
          <a:p>
            <a:pPr indent="0" marL="0">
              <a:buNone/>
            </a:pPr>
            <a:r>
              <a:rPr lang="en-US" sz="1300" i="1" dirty="0">
                <a:solidFill>
                  <a:schemeClr val="tx1"/>
                </a:solidFill>
                <a:latin typeface="Calibri" pitchFamily="34" charset="0"/>
                <a:ea typeface="Calibri" pitchFamily="34" charset="-122"/>
                <a:cs typeface="Calibri" pitchFamily="34" charset="-120"/>
              </a:rPr>
              <a:t>Exhaustion</a:t>
            </a:r>
            <a:endParaRPr lang="en-US" sz="1300" dirty="0"/>
          </a:p>
        </p:txBody>
      </p:sp>
      <p:sp>
        <p:nvSpPr>
          <p:cNvPr id="26" name="Text 20"/>
          <p:cNvSpPr txBox="1"/>
          <p:nvPr/>
        </p:nvSpPr>
        <p:spPr>
          <a:xfrm>
            <a:off x="4480560" y="3694176"/>
            <a:ext cx="28346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Energy check-ins vs your usual</a:t>
            </a:r>
            <a:endParaRPr lang="en-US" sz="1300" dirty="0"/>
          </a:p>
        </p:txBody>
      </p:sp>
      <p:sp>
        <p:nvSpPr>
          <p:cNvPr id="27" name="card"/>
          <p:cNvSpPr/>
          <p:nvPr/>
        </p:nvSpPr>
        <p:spPr>
          <a:xfrm>
            <a:off x="548640" y="4453128"/>
            <a:ext cx="6858000" cy="640080"/>
          </a:xfrm>
          <a:prstGeom prst="roundRect">
            <a:avLst>
              <a:gd name="adj" fmla="val 25714"/>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28" name="icon circle"/>
          <p:cNvSpPr/>
          <p:nvPr/>
        </p:nvSpPr>
        <p:spPr>
          <a:xfrm>
            <a:off x="685800" y="4544568"/>
            <a:ext cx="457200" cy="457200"/>
          </a:xfrm>
          <a:prstGeom prst="ellipse">
            <a:avLst/>
          </a:prstGeom>
          <a:solidFill>
            <a:schemeClr val="tx2"/>
          </a:solidFill>
          <a:ln w="12700">
            <a:solidFill>
              <a:schemeClr val="tx2"/>
            </a:solidFill>
            <a:prstDash val="solid"/>
          </a:ln>
        </p:spPr>
      </p:sp>
      <p:pic>
        <p:nvPicPr>
          <p:cNvPr id="29" name="icon" descr="preencoded.png">    </p:cNvPr>
          <p:cNvPicPr>
            <a:picLocks noChangeAspect="1"/>
          </p:cNvPicPr>
          <p:nvPr/>
        </p:nvPicPr>
        <p:blipFill>
          <a:blip r:embed="rId5"/>
          <a:stretch>
            <a:fillRect/>
          </a:stretch>
        </p:blipFill>
        <p:spPr>
          <a:xfrm>
            <a:off x="795528" y="4654296"/>
            <a:ext cx="237744" cy="237744"/>
          </a:xfrm>
          <a:prstGeom prst="rect">
            <a:avLst/>
          </a:prstGeom>
        </p:spPr>
      </p:pic>
      <p:sp>
        <p:nvSpPr>
          <p:cNvPr id="30" name="Text 23"/>
          <p:cNvSpPr txBox="1"/>
          <p:nvPr/>
        </p:nvSpPr>
        <p:spPr>
          <a:xfrm>
            <a:off x="1325880" y="4453128"/>
            <a:ext cx="1463040" cy="640080"/>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Drive</a:t>
            </a:r>
            <a:endParaRPr lang="en-US" sz="1700" dirty="0"/>
          </a:p>
        </p:txBody>
      </p:sp>
      <p:sp>
        <p:nvSpPr>
          <p:cNvPr id="31" name="Text 24"/>
          <p:cNvSpPr txBox="1"/>
          <p:nvPr/>
        </p:nvSpPr>
        <p:spPr>
          <a:xfrm>
            <a:off x="2788920" y="4453128"/>
            <a:ext cx="1691640" cy="640080"/>
          </a:xfrm>
          <a:prstGeom prst="rect">
            <a:avLst/>
          </a:prstGeom>
          <a:noFill/>
          <a:ln/>
        </p:spPr>
        <p:txBody>
          <a:bodyPr wrap="square" lIns="0" tIns="0" rIns="0" bIns="0" rtlCol="0" anchor="ctr"/>
          <a:lstStyle/>
          <a:p>
            <a:pPr indent="0" marL="0">
              <a:buNone/>
            </a:pPr>
            <a:r>
              <a:rPr lang="en-US" sz="1300" i="1" dirty="0">
                <a:solidFill>
                  <a:schemeClr val="tx1"/>
                </a:solidFill>
                <a:latin typeface="Calibri" pitchFamily="34" charset="0"/>
                <a:ea typeface="Calibri" pitchFamily="34" charset="-122"/>
                <a:cs typeface="Calibri" pitchFamily="34" charset="-120"/>
              </a:rPr>
              <a:t>Loss of motivation</a:t>
            </a:r>
            <a:endParaRPr lang="en-US" sz="1300" dirty="0"/>
          </a:p>
        </p:txBody>
      </p:sp>
      <p:sp>
        <p:nvSpPr>
          <p:cNvPr id="32" name="Text 25"/>
          <p:cNvSpPr txBox="1"/>
          <p:nvPr/>
        </p:nvSpPr>
        <p:spPr>
          <a:xfrm>
            <a:off x="4480560" y="4453128"/>
            <a:ext cx="28346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Mood + what you tell the necklace</a:t>
            </a:r>
            <a:endParaRPr lang="en-US" sz="1300" dirty="0"/>
          </a:p>
        </p:txBody>
      </p:sp>
      <p:sp>
        <p:nvSpPr>
          <p:cNvPr id="33" name="card"/>
          <p:cNvSpPr/>
          <p:nvPr/>
        </p:nvSpPr>
        <p:spPr>
          <a:xfrm>
            <a:off x="7726680" y="1417320"/>
            <a:ext cx="3931920" cy="3657600"/>
          </a:xfrm>
          <a:prstGeom prst="roundRect">
            <a:avLst>
              <a:gd name="adj" fmla="val 4500"/>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34" name="Text 27"/>
          <p:cNvSpPr txBox="1"/>
          <p:nvPr/>
        </p:nvSpPr>
        <p:spPr>
          <a:xfrm>
            <a:off x="8001000" y="1645920"/>
            <a:ext cx="3474720" cy="274320"/>
          </a:xfrm>
          <a:prstGeom prst="rect">
            <a:avLst/>
          </a:prstGeom>
          <a:noFill/>
          <a:ln/>
        </p:spPr>
        <p:txBody>
          <a:bodyPr wrap="square" lIns="0" tIns="0" rIns="0" bIns="0" rtlCol="0" anchor="t"/>
          <a:lstStyle/>
          <a:p>
            <a:pPr indent="0" marL="0">
              <a:buNone/>
            </a:pPr>
            <a:r>
              <a:rPr lang="en-US" sz="1100" b="1" spc="150" kern="0" dirty="0">
                <a:solidFill>
                  <a:srgbClr val="000000"/>
                </a:solidFill>
                <a:latin typeface="Calibri" pitchFamily="34" charset="0"/>
                <a:ea typeface="Calibri" pitchFamily="34" charset="-122"/>
                <a:cs typeface="Calibri" pitchFamily="34" charset="-120"/>
              </a:rPr>
              <a:t>WHAT THE STUDENT SEES</a:t>
            </a:r>
            <a:endParaRPr lang="en-US" sz="1100" dirty="0"/>
          </a:p>
        </p:txBody>
      </p:sp>
      <p:sp>
        <p:nvSpPr>
          <p:cNvPr id="35" name="icon circle"/>
          <p:cNvSpPr/>
          <p:nvPr/>
        </p:nvSpPr>
        <p:spPr>
          <a:xfrm>
            <a:off x="8001000" y="2057400"/>
            <a:ext cx="548640" cy="548640"/>
          </a:xfrm>
          <a:prstGeom prst="ellipse">
            <a:avLst/>
          </a:prstGeom>
          <a:solidFill>
            <a:schemeClr val="accent1"/>
          </a:solidFill>
          <a:ln w="12700">
            <a:solidFill>
              <a:schemeClr val="accent1"/>
            </a:solidFill>
            <a:prstDash val="solid"/>
          </a:ln>
        </p:spPr>
      </p:sp>
      <p:pic>
        <p:nvPicPr>
          <p:cNvPr id="36" name="icon" descr="preencoded.png">    </p:cNvPr>
          <p:cNvPicPr>
            <a:picLocks noChangeAspect="1"/>
          </p:cNvPicPr>
          <p:nvPr/>
        </p:nvPicPr>
        <p:blipFill>
          <a:blip r:embed="rId6"/>
          <a:stretch>
            <a:fillRect/>
          </a:stretch>
        </p:blipFill>
        <p:spPr>
          <a:xfrm>
            <a:off x="8132674" y="2189074"/>
            <a:ext cx="285293" cy="285293"/>
          </a:xfrm>
          <a:prstGeom prst="rect">
            <a:avLst/>
          </a:prstGeom>
        </p:spPr>
      </p:pic>
      <p:sp>
        <p:nvSpPr>
          <p:cNvPr id="37" name="Text 29"/>
          <p:cNvSpPr txBox="1"/>
          <p:nvPr/>
        </p:nvSpPr>
        <p:spPr>
          <a:xfrm>
            <a:off x="8686800" y="2057400"/>
            <a:ext cx="1280160" cy="54864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Sleep</a:t>
            </a:r>
            <a:endParaRPr lang="en-US" sz="1800" dirty="0"/>
          </a:p>
        </p:txBody>
      </p:sp>
      <p:sp>
        <p:nvSpPr>
          <p:cNvPr id="38" name="needs care pill"/>
          <p:cNvSpPr/>
          <p:nvPr/>
        </p:nvSpPr>
        <p:spPr>
          <a:xfrm>
            <a:off x="9921240" y="2167128"/>
            <a:ext cx="1463040" cy="347472"/>
          </a:xfrm>
          <a:prstGeom prst="roundRect">
            <a:avLst>
              <a:gd name="adj" fmla="val 50000"/>
            </a:avLst>
          </a:prstGeom>
          <a:solidFill>
            <a:schemeClr val="accent3"/>
          </a:solidFill>
          <a:ln w="12700">
            <a:solidFill>
              <a:schemeClr val="accent3"/>
            </a:solidFill>
            <a:prstDash val="solid"/>
          </a:ln>
        </p:spPr>
      </p:sp>
      <p:sp>
        <p:nvSpPr>
          <p:cNvPr id="39" name="Text 31"/>
          <p:cNvSpPr txBox="1"/>
          <p:nvPr/>
        </p:nvSpPr>
        <p:spPr>
          <a:xfrm>
            <a:off x="9921240" y="2167128"/>
            <a:ext cx="146304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needs care</a:t>
            </a:r>
            <a:endParaRPr lang="en-US" sz="1200" dirty="0"/>
          </a:p>
        </p:txBody>
      </p:sp>
      <p:sp>
        <p:nvSpPr>
          <p:cNvPr id="40" name="Text 32"/>
          <p:cNvSpPr txBox="1"/>
          <p:nvPr/>
        </p:nvSpPr>
        <p:spPr>
          <a:xfrm>
            <a:off x="8001000" y="2788920"/>
            <a:ext cx="3429000" cy="1097280"/>
          </a:xfrm>
          <a:prstGeom prst="rect">
            <a:avLst/>
          </a:prstGeom>
          <a:noFill/>
          <a:ln/>
        </p:spPr>
        <p:txBody>
          <a:bodyPr wrap="square" lIns="0" tIns="0" rIns="0" bIns="0" rtlCol="0" anchor="t"/>
          <a:lstStyle/>
          <a:p>
            <a:pPr indent="0" marL="0">
              <a:buNone/>
            </a:pPr>
            <a:r>
              <a:rPr lang="en-US" sz="1600" i="1" dirty="0">
                <a:solidFill>
                  <a:schemeClr val="tx1"/>
                </a:solidFill>
                <a:latin typeface="Cambria" pitchFamily="34" charset="0"/>
                <a:ea typeface="Cambria" pitchFamily="34" charset="-122"/>
                <a:cs typeface="Cambria" pitchFamily="34" charset="-120"/>
              </a:rPr>
              <a:t>"You slept 5.4 h on average the last 3 nights. Your usual is 7.0 h (−1.6 h)."</a:t>
            </a:r>
            <a:endParaRPr lang="en-US" sz="1600" dirty="0"/>
          </a:p>
        </p:txBody>
      </p:sp>
      <p:sp>
        <p:nvSpPr>
          <p:cNvPr id="41" name="Text 33"/>
          <p:cNvSpPr txBox="1"/>
          <p:nvPr/>
        </p:nvSpPr>
        <p:spPr>
          <a:xfrm>
            <a:off x="8001000" y="3977640"/>
            <a:ext cx="3429000" cy="8229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Tip: "Try putting the phone away 30 minutes earlier tonight."</a:t>
            </a:r>
            <a:endParaRPr lang="en-US" sz="1400" dirty="0"/>
          </a:p>
        </p:txBody>
      </p:sp>
      <p:sp>
        <p:nvSpPr>
          <p:cNvPr id="42" name="card"/>
          <p:cNvSpPr/>
          <p:nvPr/>
        </p:nvSpPr>
        <p:spPr>
          <a:xfrm>
            <a:off x="7726680" y="5257800"/>
            <a:ext cx="3931920" cy="868680"/>
          </a:xfrm>
          <a:prstGeom prst="roundRect">
            <a:avLst>
              <a:gd name="adj" fmla="val 18947"/>
            </a:avLst>
          </a:prstGeom>
          <a:solidFill>
            <a:schemeClr val="tx2"/>
          </a:solidFill>
          <a:ln w="12700">
            <a:solidFill>
              <a:schemeClr val="tx2"/>
            </a:solidFill>
            <a:prstDash val="solid"/>
          </a:ln>
        </p:spPr>
      </p:sp>
      <p:sp>
        <p:nvSpPr>
          <p:cNvPr id="43" name="Text 35"/>
          <p:cNvSpPr txBox="1"/>
          <p:nvPr/>
        </p:nvSpPr>
        <p:spPr>
          <a:xfrm>
            <a:off x="7909560" y="5257800"/>
            <a:ext cx="3611880" cy="868680"/>
          </a:xfrm>
          <a:prstGeom prst="rect">
            <a:avLst/>
          </a:prstGeom>
          <a:noFill/>
          <a:ln/>
        </p:spPr>
        <p:txBody>
          <a:bodyPr wrap="square" lIns="0" tIns="0" rIns="0" bIns="0" rtlCol="0" anchor="ctr"/>
          <a:lstStyle/>
          <a:p>
            <a:pPr algn="ctr" indent="0" marL="0">
              <a:buNone/>
            </a:pPr>
            <a:r>
              <a:rPr lang="en-US" sz="1300" dirty="0">
                <a:solidFill>
                  <a:schemeClr val="bg1"/>
                </a:solidFill>
                <a:latin typeface="Calibri" pitchFamily="34" charset="0"/>
                <a:ea typeface="Calibri" pitchFamily="34" charset="-122"/>
                <a:cs typeface="Calibri" pitchFamily="34" charset="-120"/>
              </a:rPr>
              <a:t>Sleep: −0.75 h = watch · −1.5 h = needs care</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The AI necklace: hold, talk, hear</a:t>
            </a:r>
            <a:endParaRPr lang="en-US" sz="3600" dirty="0"/>
          </a:p>
        </p:txBody>
      </p:sp>
      <p:sp>
        <p:nvSpPr>
          <p:cNvPr id="3" name="icon circle"/>
          <p:cNvSpPr/>
          <p:nvPr/>
        </p:nvSpPr>
        <p:spPr>
          <a:xfrm>
            <a:off x="548640" y="1463040"/>
            <a:ext cx="685800" cy="685800"/>
          </a:xfrm>
          <a:prstGeom prst="ellipse">
            <a:avLst/>
          </a:prstGeom>
          <a:solidFill>
            <a:schemeClr val="accent1"/>
          </a:solidFill>
          <a:ln w="12700">
            <a:solidFill>
              <a:schemeClr val="accent1"/>
            </a:solidFill>
            <a:prstDash val="solid"/>
          </a:ln>
        </p:spPr>
      </p:sp>
      <p:pic>
        <p:nvPicPr>
          <p:cNvPr id="4" name="icon" descr="preencoded.png">    </p:cNvPr>
          <p:cNvPicPr>
            <a:picLocks noChangeAspect="1"/>
          </p:cNvPicPr>
          <p:nvPr/>
        </p:nvPicPr>
        <p:blipFill>
          <a:blip r:embed="rId1"/>
          <a:stretch>
            <a:fillRect/>
          </a:stretch>
        </p:blipFill>
        <p:spPr>
          <a:xfrm>
            <a:off x="713232" y="1627632"/>
            <a:ext cx="356616" cy="356616"/>
          </a:xfrm>
          <a:prstGeom prst="rect">
            <a:avLst/>
          </a:prstGeom>
        </p:spPr>
      </p:pic>
      <p:sp>
        <p:nvSpPr>
          <p:cNvPr id="5" name="Text 2"/>
          <p:cNvSpPr txBox="1"/>
          <p:nvPr/>
        </p:nvSpPr>
        <p:spPr>
          <a:xfrm>
            <a:off x="1417320" y="1444752"/>
            <a:ext cx="3291840" cy="384048"/>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ESP32-WROOM-32</a:t>
            </a:r>
            <a:endParaRPr lang="en-US" sz="1700" dirty="0"/>
          </a:p>
        </p:txBody>
      </p:sp>
      <p:sp>
        <p:nvSpPr>
          <p:cNvPr id="6" name="Text 3"/>
          <p:cNvSpPr txBox="1"/>
          <p:nvPr/>
        </p:nvSpPr>
        <p:spPr>
          <a:xfrm>
            <a:off x="1417320" y="1810512"/>
            <a:ext cx="3291840" cy="36576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the brain, with Wi-Fi</a:t>
            </a:r>
            <a:endParaRPr lang="en-US" sz="1400" dirty="0"/>
          </a:p>
        </p:txBody>
      </p:sp>
      <p:sp>
        <p:nvSpPr>
          <p:cNvPr id="7" name="icon circle"/>
          <p:cNvSpPr/>
          <p:nvPr/>
        </p:nvSpPr>
        <p:spPr>
          <a:xfrm>
            <a:off x="548640" y="2423160"/>
            <a:ext cx="685800" cy="685800"/>
          </a:xfrm>
          <a:prstGeom prst="ellipse">
            <a:avLst/>
          </a:prstGeom>
          <a:solidFill>
            <a:schemeClr val="accent5"/>
          </a:solidFill>
          <a:ln w="12700">
            <a:solidFill>
              <a:schemeClr val="accent5"/>
            </a:solidFill>
            <a:prstDash val="solid"/>
          </a:ln>
        </p:spPr>
      </p:sp>
      <p:pic>
        <p:nvPicPr>
          <p:cNvPr id="8" name="icon" descr="preencoded.png">    </p:cNvPr>
          <p:cNvPicPr>
            <a:picLocks noChangeAspect="1"/>
          </p:cNvPicPr>
          <p:nvPr/>
        </p:nvPicPr>
        <p:blipFill>
          <a:blip r:embed="rId2"/>
          <a:stretch>
            <a:fillRect/>
          </a:stretch>
        </p:blipFill>
        <p:spPr>
          <a:xfrm>
            <a:off x="713232" y="2587752"/>
            <a:ext cx="356616" cy="356616"/>
          </a:xfrm>
          <a:prstGeom prst="rect">
            <a:avLst/>
          </a:prstGeom>
        </p:spPr>
      </p:pic>
      <p:sp>
        <p:nvSpPr>
          <p:cNvPr id="9" name="Text 5"/>
          <p:cNvSpPr txBox="1"/>
          <p:nvPr/>
        </p:nvSpPr>
        <p:spPr>
          <a:xfrm>
            <a:off x="1417320" y="2404872"/>
            <a:ext cx="3291840" cy="384048"/>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INMP441 mic</a:t>
            </a:r>
            <a:endParaRPr lang="en-US" sz="1700" dirty="0"/>
          </a:p>
        </p:txBody>
      </p:sp>
      <p:sp>
        <p:nvSpPr>
          <p:cNvPr id="10" name="Text 6"/>
          <p:cNvSpPr txBox="1"/>
          <p:nvPr/>
        </p:nvSpPr>
        <p:spPr>
          <a:xfrm>
            <a:off x="1417320" y="2770632"/>
            <a:ext cx="3291840" cy="36576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digital, 16,000 samples/s</a:t>
            </a:r>
            <a:endParaRPr lang="en-US" sz="1400" dirty="0"/>
          </a:p>
        </p:txBody>
      </p:sp>
      <p:sp>
        <p:nvSpPr>
          <p:cNvPr id="11" name="icon circle"/>
          <p:cNvSpPr/>
          <p:nvPr/>
        </p:nvSpPr>
        <p:spPr>
          <a:xfrm>
            <a:off x="548640" y="3383280"/>
            <a:ext cx="685800" cy="685800"/>
          </a:xfrm>
          <a:prstGeom prst="ellipse">
            <a:avLst/>
          </a:prstGeom>
          <a:solidFill>
            <a:schemeClr val="accent1"/>
          </a:solidFill>
          <a:ln w="12700">
            <a:solidFill>
              <a:schemeClr val="accent1"/>
            </a:solidFill>
            <a:prstDash val="solid"/>
          </a:ln>
        </p:spPr>
      </p:sp>
      <p:pic>
        <p:nvPicPr>
          <p:cNvPr id="12" name="icon" descr="preencoded.png">    </p:cNvPr>
          <p:cNvPicPr>
            <a:picLocks noChangeAspect="1"/>
          </p:cNvPicPr>
          <p:nvPr/>
        </p:nvPicPr>
        <p:blipFill>
          <a:blip r:embed="rId3"/>
          <a:stretch>
            <a:fillRect/>
          </a:stretch>
        </p:blipFill>
        <p:spPr>
          <a:xfrm>
            <a:off x="713232" y="3547872"/>
            <a:ext cx="356616" cy="356616"/>
          </a:xfrm>
          <a:prstGeom prst="rect">
            <a:avLst/>
          </a:prstGeom>
        </p:spPr>
      </p:pic>
      <p:sp>
        <p:nvSpPr>
          <p:cNvPr id="13" name="Text 8"/>
          <p:cNvSpPr txBox="1"/>
          <p:nvPr/>
        </p:nvSpPr>
        <p:spPr>
          <a:xfrm>
            <a:off x="1417320" y="3364992"/>
            <a:ext cx="3291840" cy="384048"/>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MAX98357A + 8 Ω speaker</a:t>
            </a:r>
            <a:endParaRPr lang="en-US" sz="1700" dirty="0"/>
          </a:p>
        </p:txBody>
      </p:sp>
      <p:sp>
        <p:nvSpPr>
          <p:cNvPr id="14" name="Text 9"/>
          <p:cNvSpPr txBox="1"/>
          <p:nvPr/>
        </p:nvSpPr>
        <p:spPr>
          <a:xfrm>
            <a:off x="1417320" y="3730752"/>
            <a:ext cx="3291840" cy="36576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amplifier drives the voice</a:t>
            </a:r>
            <a:endParaRPr lang="en-US" sz="1400" dirty="0"/>
          </a:p>
        </p:txBody>
      </p:sp>
      <p:sp>
        <p:nvSpPr>
          <p:cNvPr id="15" name="icon circle"/>
          <p:cNvSpPr/>
          <p:nvPr/>
        </p:nvSpPr>
        <p:spPr>
          <a:xfrm>
            <a:off x="548640" y="4343400"/>
            <a:ext cx="685800" cy="685800"/>
          </a:xfrm>
          <a:prstGeom prst="ellipse">
            <a:avLst/>
          </a:prstGeom>
          <a:solidFill>
            <a:schemeClr val="accent5"/>
          </a:solidFill>
          <a:ln w="12700">
            <a:solidFill>
              <a:schemeClr val="accent5"/>
            </a:solidFill>
            <a:prstDash val="solid"/>
          </a:ln>
        </p:spPr>
      </p:sp>
      <p:pic>
        <p:nvPicPr>
          <p:cNvPr id="16" name="icon" descr="preencoded.png">    </p:cNvPr>
          <p:cNvPicPr>
            <a:picLocks noChangeAspect="1"/>
          </p:cNvPicPr>
          <p:nvPr/>
        </p:nvPicPr>
        <p:blipFill>
          <a:blip r:embed="rId4"/>
          <a:stretch>
            <a:fillRect/>
          </a:stretch>
        </p:blipFill>
        <p:spPr>
          <a:xfrm>
            <a:off x="713232" y="4507992"/>
            <a:ext cx="356616" cy="356616"/>
          </a:xfrm>
          <a:prstGeom prst="rect">
            <a:avLst/>
          </a:prstGeom>
        </p:spPr>
      </p:pic>
      <p:sp>
        <p:nvSpPr>
          <p:cNvPr id="17" name="Text 11"/>
          <p:cNvSpPr txBox="1"/>
          <p:nvPr/>
        </p:nvSpPr>
        <p:spPr>
          <a:xfrm>
            <a:off x="1417320" y="4325112"/>
            <a:ext cx="3291840" cy="384048"/>
          </a:xfrm>
          <a:prstGeom prst="rect">
            <a:avLst/>
          </a:prstGeom>
          <a:noFill/>
          <a:ln/>
        </p:spPr>
        <p:txBody>
          <a:bodyPr wrap="square" lIns="0" tIns="0" rIns="0" bIns="0" rtlCol="0" anchor="t"/>
          <a:lstStyle/>
          <a:p>
            <a:pPr indent="0" marL="0">
              <a:buNone/>
            </a:pPr>
            <a:r>
              <a:rPr lang="en-US" sz="1700" b="1" dirty="0">
                <a:solidFill>
                  <a:schemeClr val="bg1"/>
                </a:solidFill>
                <a:latin typeface="Calibri" pitchFamily="34" charset="0"/>
                <a:ea typeface="Calibri" pitchFamily="34" charset="-122"/>
                <a:cs typeface="Calibri" pitchFamily="34" charset="-120"/>
              </a:rPr>
              <a:t>Push button</a:t>
            </a:r>
            <a:endParaRPr lang="en-US" sz="1700" dirty="0"/>
          </a:p>
        </p:txBody>
      </p:sp>
      <p:sp>
        <p:nvSpPr>
          <p:cNvPr id="18" name="Text 12"/>
          <p:cNvSpPr txBox="1"/>
          <p:nvPr/>
        </p:nvSpPr>
        <p:spPr>
          <a:xfrm>
            <a:off x="1417320" y="4690872"/>
            <a:ext cx="3291840" cy="36576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hold to talk, release to send</a:t>
            </a:r>
            <a:endParaRPr lang="en-US" sz="1400" dirty="0"/>
          </a:p>
        </p:txBody>
      </p:sp>
      <p:sp>
        <p:nvSpPr>
          <p:cNvPr id="19" name="pipeline Necklace"/>
          <p:cNvSpPr/>
          <p:nvPr/>
        </p:nvSpPr>
        <p:spPr>
          <a:xfrm>
            <a:off x="5120640" y="1508760"/>
            <a:ext cx="1920240" cy="1188720"/>
          </a:xfrm>
          <a:prstGeom prst="roundRect">
            <a:avLst>
              <a:gd name="adj" fmla="val 11538"/>
            </a:avLst>
          </a:prstGeom>
          <a:solidFill>
            <a:schemeClr val="accent1"/>
          </a:solidFill>
          <a:ln w="12700">
            <a:solidFill>
              <a:schemeClr val="accent1"/>
            </a:solidFill>
            <a:prstDash val="solid"/>
          </a:ln>
        </p:spPr>
      </p:sp>
      <p:sp>
        <p:nvSpPr>
          <p:cNvPr id="20" name="Text 14"/>
          <p:cNvSpPr txBox="1"/>
          <p:nvPr/>
        </p:nvSpPr>
        <p:spPr>
          <a:xfrm>
            <a:off x="5257800" y="1618488"/>
            <a:ext cx="1645920" cy="365760"/>
          </a:xfrm>
          <a:prstGeom prst="rect">
            <a:avLst/>
          </a:prstGeom>
          <a:noFill/>
          <a:ln/>
        </p:spPr>
        <p:txBody>
          <a:bodyPr wrap="square" lIns="0" tIns="0" rIns="0" bIns="0" rtlCol="0" anchor="t"/>
          <a:lstStyle/>
          <a:p>
            <a:pPr algn="ctr" indent="0" marL="0">
              <a:buNone/>
            </a:pPr>
            <a:r>
              <a:rPr lang="en-US" sz="1600" b="1" dirty="0">
                <a:solidFill>
                  <a:schemeClr val="bg1"/>
                </a:solidFill>
                <a:latin typeface="Calibri" pitchFamily="34" charset="0"/>
                <a:ea typeface="Calibri" pitchFamily="34" charset="-122"/>
                <a:cs typeface="Calibri" pitchFamily="34" charset="-120"/>
              </a:rPr>
              <a:t>Necklace</a:t>
            </a:r>
            <a:endParaRPr lang="en-US" sz="1600" dirty="0"/>
          </a:p>
        </p:txBody>
      </p:sp>
      <p:sp>
        <p:nvSpPr>
          <p:cNvPr id="21" name="Text 15"/>
          <p:cNvSpPr txBox="1"/>
          <p:nvPr/>
        </p:nvSpPr>
        <p:spPr>
          <a:xfrm>
            <a:off x="5257800" y="1984248"/>
            <a:ext cx="1645920" cy="64008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streams your voice while you talk</a:t>
            </a:r>
            <a:endParaRPr lang="en-US" sz="1200" dirty="0"/>
          </a:p>
        </p:txBody>
      </p:sp>
      <p:sp>
        <p:nvSpPr>
          <p:cNvPr id="22" name="pipeline Laptop hub"/>
          <p:cNvSpPr/>
          <p:nvPr/>
        </p:nvSpPr>
        <p:spPr>
          <a:xfrm>
            <a:off x="7635240" y="1508760"/>
            <a:ext cx="3931920" cy="1188720"/>
          </a:xfrm>
          <a:prstGeom prst="roundRect">
            <a:avLst>
              <a:gd name="adj" fmla="val 11538"/>
            </a:avLst>
          </a:prstGeom>
          <a:solidFill>
            <a:schemeClr val="accent5"/>
          </a:solidFill>
          <a:ln w="12700">
            <a:solidFill>
              <a:schemeClr val="accent5"/>
            </a:solidFill>
            <a:prstDash val="solid"/>
          </a:ln>
        </p:spPr>
      </p:sp>
      <p:sp>
        <p:nvSpPr>
          <p:cNvPr id="23" name="Text 17"/>
          <p:cNvSpPr txBox="1"/>
          <p:nvPr/>
        </p:nvSpPr>
        <p:spPr>
          <a:xfrm>
            <a:off x="7772400" y="1618488"/>
            <a:ext cx="3657600" cy="365760"/>
          </a:xfrm>
          <a:prstGeom prst="rect">
            <a:avLst/>
          </a:prstGeom>
          <a:noFill/>
          <a:ln/>
        </p:spPr>
        <p:txBody>
          <a:bodyPr wrap="square" lIns="0" tIns="0" rIns="0" bIns="0" rtlCol="0" anchor="t"/>
          <a:lstStyle/>
          <a:p>
            <a:pPr algn="ctr" indent="0" marL="0">
              <a:buNone/>
            </a:pPr>
            <a:r>
              <a:rPr lang="en-US" sz="1600" b="1" dirty="0">
                <a:solidFill>
                  <a:schemeClr val="bg1"/>
                </a:solidFill>
                <a:latin typeface="Calibri" pitchFamily="34" charset="0"/>
                <a:ea typeface="Calibri" pitchFamily="34" charset="-122"/>
                <a:cs typeface="Calibri" pitchFamily="34" charset="-120"/>
              </a:rPr>
              <a:t>Laptop hub</a:t>
            </a:r>
            <a:endParaRPr lang="en-US" sz="1600" dirty="0"/>
          </a:p>
        </p:txBody>
      </p:sp>
      <p:sp>
        <p:nvSpPr>
          <p:cNvPr id="24" name="Text 18"/>
          <p:cNvSpPr txBox="1"/>
          <p:nvPr/>
        </p:nvSpPr>
        <p:spPr>
          <a:xfrm>
            <a:off x="7772400" y="1984248"/>
            <a:ext cx="3657600" cy="64008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speech → text (Whisper) → kind reply (AI) → voice</a:t>
            </a:r>
            <a:endParaRPr lang="en-US" sz="1200" dirty="0"/>
          </a:p>
        </p:txBody>
      </p:sp>
      <p:sp>
        <p:nvSpPr>
          <p:cNvPr id="25" name="Text 19"/>
          <p:cNvSpPr txBox="1"/>
          <p:nvPr/>
        </p:nvSpPr>
        <p:spPr>
          <a:xfrm>
            <a:off x="7040880" y="1783080"/>
            <a:ext cx="594360" cy="320040"/>
          </a:xfrm>
          <a:prstGeom prst="rect">
            <a:avLst/>
          </a:prstGeom>
          <a:noFill/>
          <a:ln/>
        </p:spPr>
        <p:txBody>
          <a:bodyPr wrap="square" lIns="0" tIns="0" rIns="0" bIns="0" rtlCol="0" anchor="t"/>
          <a:lstStyle/>
          <a:p>
            <a:pPr algn="ctr" indent="0" marL="0">
              <a:buNone/>
            </a:pPr>
            <a:r>
              <a:rPr lang="en-US" sz="1200" b="1" dirty="0">
                <a:solidFill>
                  <a:schemeClr val="accent6"/>
                </a:solidFill>
                <a:latin typeface="Calibri" pitchFamily="34" charset="0"/>
                <a:ea typeface="Calibri" pitchFamily="34" charset="-122"/>
                <a:cs typeface="Calibri" pitchFamily="34" charset="-120"/>
              </a:rPr>
              <a:t>Wi-Fi →</a:t>
            </a:r>
            <a:endParaRPr lang="en-US" sz="1200" dirty="0"/>
          </a:p>
        </p:txBody>
      </p:sp>
      <p:sp>
        <p:nvSpPr>
          <p:cNvPr id="26" name="Text 20"/>
          <p:cNvSpPr txBox="1"/>
          <p:nvPr/>
        </p:nvSpPr>
        <p:spPr>
          <a:xfrm>
            <a:off x="7040880" y="2148840"/>
            <a:ext cx="594360" cy="320040"/>
          </a:xfrm>
          <a:prstGeom prst="rect">
            <a:avLst/>
          </a:prstGeom>
          <a:noFill/>
          <a:ln/>
        </p:spPr>
        <p:txBody>
          <a:bodyPr wrap="square" lIns="0" tIns="0" rIns="0" bIns="0" rtlCol="0" anchor="t"/>
          <a:lstStyle/>
          <a:p>
            <a:pPr algn="ctr" indent="0" marL="0">
              <a:buNone/>
            </a:pPr>
            <a:r>
              <a:rPr lang="en-US" sz="1200" b="1" dirty="0">
                <a:solidFill>
                  <a:schemeClr val="accent6"/>
                </a:solidFill>
                <a:latin typeface="Calibri" pitchFamily="34" charset="0"/>
                <a:ea typeface="Calibri" pitchFamily="34" charset="-122"/>
                <a:cs typeface="Calibri" pitchFamily="34" charset="-120"/>
              </a:rPr>
              <a:t>← voice</a:t>
            </a:r>
            <a:endParaRPr lang="en-US" sz="1200" dirty="0"/>
          </a:p>
        </p:txBody>
      </p:sp>
      <p:sp>
        <p:nvSpPr>
          <p:cNvPr id="27" name="pipeline MindMirror app"/>
          <p:cNvSpPr/>
          <p:nvPr/>
        </p:nvSpPr>
        <p:spPr>
          <a:xfrm>
            <a:off x="7635240" y="3108960"/>
            <a:ext cx="3931920" cy="1005840"/>
          </a:xfrm>
          <a:prstGeom prst="roundRect">
            <a:avLst>
              <a:gd name="adj" fmla="val 13636"/>
            </a:avLst>
          </a:prstGeom>
          <a:solidFill>
            <a:schemeClr val="accent3"/>
          </a:solidFill>
          <a:ln w="12700">
            <a:solidFill>
              <a:schemeClr val="accent3"/>
            </a:solidFill>
            <a:prstDash val="solid"/>
          </a:ln>
        </p:spPr>
      </p:sp>
      <p:sp>
        <p:nvSpPr>
          <p:cNvPr id="28" name="Text 22"/>
          <p:cNvSpPr txBox="1"/>
          <p:nvPr/>
        </p:nvSpPr>
        <p:spPr>
          <a:xfrm>
            <a:off x="7772400" y="3218688"/>
            <a:ext cx="3657600" cy="365760"/>
          </a:xfrm>
          <a:prstGeom prst="rect">
            <a:avLst/>
          </a:prstGeom>
          <a:noFill/>
          <a:ln/>
        </p:spPr>
        <p:txBody>
          <a:bodyPr wrap="square" lIns="0" tIns="0" rIns="0" bIns="0" rtlCol="0" anchor="t"/>
          <a:lstStyle/>
          <a:p>
            <a:pPr algn="ctr" indent="0" marL="0">
              <a:buNone/>
            </a:pPr>
            <a:r>
              <a:rPr lang="en-US" sz="1600" b="1" dirty="0">
                <a:solidFill>
                  <a:schemeClr val="bg1"/>
                </a:solidFill>
                <a:latin typeface="Calibri" pitchFamily="34" charset="0"/>
                <a:ea typeface="Calibri" pitchFamily="34" charset="-122"/>
                <a:cs typeface="Calibri" pitchFamily="34" charset="-120"/>
              </a:rPr>
              <a:t>MindMirror app</a:t>
            </a:r>
            <a:endParaRPr lang="en-US" sz="1600" dirty="0"/>
          </a:p>
        </p:txBody>
      </p:sp>
      <p:sp>
        <p:nvSpPr>
          <p:cNvPr id="29" name="Text 23"/>
          <p:cNvSpPr txBox="1"/>
          <p:nvPr/>
        </p:nvSpPr>
        <p:spPr>
          <a:xfrm>
            <a:off x="7772400" y="3584448"/>
            <a:ext cx="3657600" cy="45720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the conversation appears live</a:t>
            </a:r>
            <a:endParaRPr lang="en-US" sz="1200" dirty="0"/>
          </a:p>
        </p:txBody>
      </p:sp>
      <p:sp>
        <p:nvSpPr>
          <p:cNvPr id="30" name="Text 24"/>
          <p:cNvSpPr txBox="1"/>
          <p:nvPr/>
        </p:nvSpPr>
        <p:spPr>
          <a:xfrm>
            <a:off x="8778240" y="2715768"/>
            <a:ext cx="1645920" cy="365760"/>
          </a:xfrm>
          <a:prstGeom prst="rect">
            <a:avLst/>
          </a:prstGeom>
          <a:noFill/>
          <a:ln/>
        </p:spPr>
        <p:txBody>
          <a:bodyPr wrap="square" lIns="0" tIns="0" rIns="0" bIns="0" rtlCol="0" anchor="t"/>
          <a:lstStyle/>
          <a:p>
            <a:pPr algn="ctr" indent="0" marL="0">
              <a:buNone/>
            </a:pPr>
            <a:r>
              <a:rPr lang="en-US" sz="1200" b="1" dirty="0">
                <a:solidFill>
                  <a:schemeClr val="accent6"/>
                </a:solidFill>
                <a:latin typeface="Calibri" pitchFamily="34" charset="0"/>
                <a:ea typeface="Calibri" pitchFamily="34" charset="-122"/>
                <a:cs typeface="Calibri" pitchFamily="34" charset="-120"/>
              </a:rPr>
              <a:t>↓ live event</a:t>
            </a:r>
            <a:endParaRPr lang="en-US" sz="1200" dirty="0"/>
          </a:p>
        </p:txBody>
      </p:sp>
      <p:sp>
        <p:nvSpPr>
          <p:cNvPr id="31" name="Text 25"/>
          <p:cNvSpPr txBox="1"/>
          <p:nvPr/>
        </p:nvSpPr>
        <p:spPr>
          <a:xfrm>
            <a:off x="5120640" y="4480560"/>
            <a:ext cx="2103120" cy="73152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2–4 s</a:t>
            </a:r>
            <a:endParaRPr lang="en-US" sz="4000" dirty="0"/>
          </a:p>
        </p:txBody>
      </p:sp>
      <p:sp>
        <p:nvSpPr>
          <p:cNvPr id="32" name="Text 26"/>
          <p:cNvSpPr txBox="1"/>
          <p:nvPr/>
        </p:nvSpPr>
        <p:spPr>
          <a:xfrm>
            <a:off x="5120640" y="5212080"/>
            <a:ext cx="2103120" cy="64008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from releasing the button to the reply</a:t>
            </a:r>
            <a:endParaRPr lang="en-US" sz="1300" dirty="0"/>
          </a:p>
        </p:txBody>
      </p:sp>
      <p:sp>
        <p:nvSpPr>
          <p:cNvPr id="33" name="Text 27"/>
          <p:cNvSpPr txBox="1"/>
          <p:nvPr/>
        </p:nvSpPr>
        <p:spPr>
          <a:xfrm>
            <a:off x="7360920" y="4480560"/>
            <a:ext cx="2103120" cy="73152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2 × I2S</a:t>
            </a:r>
            <a:endParaRPr lang="en-US" sz="4000" dirty="0"/>
          </a:p>
        </p:txBody>
      </p:sp>
      <p:sp>
        <p:nvSpPr>
          <p:cNvPr id="34" name="Text 28"/>
          <p:cNvSpPr txBox="1"/>
          <p:nvPr/>
        </p:nvSpPr>
        <p:spPr>
          <a:xfrm>
            <a:off x="7360920" y="5212080"/>
            <a:ext cx="2103120" cy="64008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mic and speaker run at the same time</a:t>
            </a:r>
            <a:endParaRPr lang="en-US" sz="1300" dirty="0"/>
          </a:p>
        </p:txBody>
      </p:sp>
      <p:sp>
        <p:nvSpPr>
          <p:cNvPr id="35" name="Text 29"/>
          <p:cNvSpPr txBox="1"/>
          <p:nvPr/>
        </p:nvSpPr>
        <p:spPr>
          <a:xfrm>
            <a:off x="9601200" y="4480560"/>
            <a:ext cx="2103120" cy="73152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0 IPs</a:t>
            </a:r>
            <a:endParaRPr lang="en-US" sz="4000" dirty="0"/>
          </a:p>
        </p:txBody>
      </p:sp>
      <p:sp>
        <p:nvSpPr>
          <p:cNvPr id="36" name="Text 30"/>
          <p:cNvSpPr txBox="1"/>
          <p:nvPr/>
        </p:nvSpPr>
        <p:spPr>
          <a:xfrm>
            <a:off x="9601200" y="5212080"/>
            <a:ext cx="2103120" cy="64008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necklace finds the laptop by itself</a:t>
            </a:r>
            <a:endParaRPr lang="en-US" sz="1300" dirty="0"/>
          </a:p>
        </p:txBody>
      </p:sp>
      <p:sp>
        <p:nvSpPr>
          <p:cNvPr id="37" name="Text 31"/>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400" i="1" dirty="0">
                <a:solidFill>
                  <a:schemeClr val="accent6"/>
                </a:solidFill>
                <a:latin typeface="Calibri" pitchFamily="34" charset="0"/>
                <a:ea typeface="Calibri" pitchFamily="34" charset="-122"/>
                <a:cs typeface="Calibri" pitchFamily="34" charset="-120"/>
              </a:rPr>
              <a:t>Crisis words never reach the AI: the necklace gives Tele-MANAS 14416 and 112.</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When it's heavy, doing helps more than reading</a:t>
            </a:r>
            <a:endParaRPr lang="en-US" sz="3600" dirty="0"/>
          </a:p>
        </p:txBody>
      </p:sp>
      <p:sp>
        <p:nvSpPr>
          <p:cNvPr id="3" name="Text 1"/>
          <p:cNvSpPr txBox="1"/>
          <p:nvPr/>
        </p:nvSpPr>
        <p:spPr>
          <a:xfrm>
            <a:off x="548640" y="1417320"/>
            <a:ext cx="7315200" cy="320040"/>
          </a:xfrm>
          <a:prstGeom prst="rect">
            <a:avLst/>
          </a:prstGeom>
          <a:noFill/>
          <a:ln/>
        </p:spPr>
        <p:txBody>
          <a:bodyPr wrap="square" lIns="0" tIns="0" rIns="0" bIns="0" rtlCol="0" anchor="t"/>
          <a:lstStyle/>
          <a:p>
            <a:pPr indent="0" marL="0">
              <a:buNone/>
            </a:pPr>
            <a:r>
              <a:rPr lang="en-US" sz="1200" b="1" spc="150" kern="0" dirty="0">
                <a:solidFill>
                  <a:srgbClr val="000000"/>
                </a:solidFill>
                <a:latin typeface="Calibri" pitchFamily="34" charset="0"/>
                <a:ea typeface="Calibri" pitchFamily="34" charset="-122"/>
                <a:cs typeface="Calibri" pitchFamily="34" charset="-120"/>
              </a:rPr>
              <a:t>PLAY ROOM · NO SCORES, NO TIMERS, NO WAY TO LOSE</a:t>
            </a:r>
            <a:endParaRPr lang="en-US" sz="1200" dirty="0"/>
          </a:p>
        </p:txBody>
      </p:sp>
      <p:sp>
        <p:nvSpPr>
          <p:cNvPr id="4" name="card"/>
          <p:cNvSpPr/>
          <p:nvPr/>
        </p:nvSpPr>
        <p:spPr>
          <a:xfrm>
            <a:off x="548640" y="1828800"/>
            <a:ext cx="2331720" cy="2514600"/>
          </a:xfrm>
          <a:prstGeom prst="roundRect">
            <a:avLst>
              <a:gd name="adj" fmla="val 7059"/>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5" name="icon circle"/>
          <p:cNvSpPr/>
          <p:nvPr/>
        </p:nvSpPr>
        <p:spPr>
          <a:xfrm>
            <a:off x="822960" y="2103120"/>
            <a:ext cx="731520" cy="731520"/>
          </a:xfrm>
          <a:prstGeom prst="ellipse">
            <a:avLst/>
          </a:prstGeom>
          <a:solidFill>
            <a:schemeClr val="accent5"/>
          </a:solidFill>
          <a:ln w="12700">
            <a:solidFill>
              <a:schemeClr val="accent5"/>
            </a:solidFill>
            <a:prstDash val="solid"/>
          </a:ln>
        </p:spPr>
      </p:sp>
      <p:pic>
        <p:nvPicPr>
          <p:cNvPr id="6" name="icon" descr="preencoded.png">    </p:cNvPr>
          <p:cNvPicPr>
            <a:picLocks noChangeAspect="1"/>
          </p:cNvPicPr>
          <p:nvPr/>
        </p:nvPicPr>
        <p:blipFill>
          <a:blip r:embed="rId1"/>
          <a:stretch>
            <a:fillRect/>
          </a:stretch>
        </p:blipFill>
        <p:spPr>
          <a:xfrm>
            <a:off x="998525" y="2278685"/>
            <a:ext cx="380390" cy="380390"/>
          </a:xfrm>
          <a:prstGeom prst="rect">
            <a:avLst/>
          </a:prstGeom>
        </p:spPr>
      </p:pic>
      <p:sp>
        <p:nvSpPr>
          <p:cNvPr id="7" name="Text 4"/>
          <p:cNvSpPr txBox="1"/>
          <p:nvPr/>
        </p:nvSpPr>
        <p:spPr>
          <a:xfrm>
            <a:off x="822960" y="2971800"/>
            <a:ext cx="1920240" cy="411480"/>
          </a:xfrm>
          <a:prstGeom prst="rect">
            <a:avLst/>
          </a:prstGeom>
          <a:noFill/>
          <a:ln/>
        </p:spPr>
        <p:txBody>
          <a:bodyPr wrap="square" lIns="0" tIns="0" rIns="0" bIns="0" rtlCol="0" anchor="t"/>
          <a:lstStyle/>
          <a:p>
            <a:pPr indent="0" marL="0">
              <a:buNone/>
            </a:pPr>
            <a:r>
              <a:rPr lang="en-US" sz="1700" b="1" dirty="0">
                <a:solidFill>
                  <a:schemeClr val="accent5"/>
                </a:solidFill>
                <a:latin typeface="Calibri" pitchFamily="34" charset="0"/>
                <a:ea typeface="Calibri" pitchFamily="34" charset="-122"/>
                <a:cs typeface="Calibri" pitchFamily="34" charset="-120"/>
              </a:rPr>
              <a:t>Bubble wrap</a:t>
            </a:r>
            <a:endParaRPr lang="en-US" sz="1700" dirty="0"/>
          </a:p>
        </p:txBody>
      </p:sp>
      <p:sp>
        <p:nvSpPr>
          <p:cNvPr id="8" name="Text 5"/>
          <p:cNvSpPr txBox="1"/>
          <p:nvPr/>
        </p:nvSpPr>
        <p:spPr>
          <a:xfrm>
            <a:off x="822960" y="3429000"/>
            <a:ext cx="1874520" cy="11430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Pop slowly, breathe out with each one. Soft sound, no score.</a:t>
            </a:r>
            <a:endParaRPr lang="en-US" sz="1300" dirty="0"/>
          </a:p>
        </p:txBody>
      </p:sp>
      <p:sp>
        <p:nvSpPr>
          <p:cNvPr id="9" name="card"/>
          <p:cNvSpPr/>
          <p:nvPr/>
        </p:nvSpPr>
        <p:spPr>
          <a:xfrm>
            <a:off x="3063240" y="1828800"/>
            <a:ext cx="2331720" cy="2514600"/>
          </a:xfrm>
          <a:prstGeom prst="roundRect">
            <a:avLst>
              <a:gd name="adj" fmla="val 7059"/>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10" name="icon circle"/>
          <p:cNvSpPr/>
          <p:nvPr/>
        </p:nvSpPr>
        <p:spPr>
          <a:xfrm>
            <a:off x="3337560" y="2103120"/>
            <a:ext cx="731520" cy="731520"/>
          </a:xfrm>
          <a:prstGeom prst="ellipse">
            <a:avLst/>
          </a:prstGeom>
          <a:solidFill>
            <a:schemeClr val="accent3"/>
          </a:solidFill>
          <a:ln w="12700">
            <a:solidFill>
              <a:schemeClr val="accent3"/>
            </a:solidFill>
            <a:prstDash val="solid"/>
          </a:ln>
        </p:spPr>
      </p:sp>
      <p:pic>
        <p:nvPicPr>
          <p:cNvPr id="11" name="icon" descr="preencoded.png">    </p:cNvPr>
          <p:cNvPicPr>
            <a:picLocks noChangeAspect="1"/>
          </p:cNvPicPr>
          <p:nvPr/>
        </p:nvPicPr>
        <p:blipFill>
          <a:blip r:embed="rId2"/>
          <a:stretch>
            <a:fillRect/>
          </a:stretch>
        </p:blipFill>
        <p:spPr>
          <a:xfrm>
            <a:off x="3513125" y="2278685"/>
            <a:ext cx="380390" cy="380390"/>
          </a:xfrm>
          <a:prstGeom prst="rect">
            <a:avLst/>
          </a:prstGeom>
        </p:spPr>
      </p:pic>
      <p:sp>
        <p:nvSpPr>
          <p:cNvPr id="12" name="Text 8"/>
          <p:cNvSpPr txBox="1"/>
          <p:nvPr/>
        </p:nvSpPr>
        <p:spPr>
          <a:xfrm>
            <a:off x="3337560" y="2971800"/>
            <a:ext cx="1920240" cy="411480"/>
          </a:xfrm>
          <a:prstGeom prst="rect">
            <a:avLst/>
          </a:prstGeom>
          <a:noFill/>
          <a:ln/>
        </p:spPr>
        <p:txBody>
          <a:bodyPr wrap="square" lIns="0" tIns="0" rIns="0" bIns="0" rtlCol="0" anchor="t"/>
          <a:lstStyle/>
          <a:p>
            <a:pPr indent="0" marL="0">
              <a:buNone/>
            </a:pPr>
            <a:r>
              <a:rPr lang="en-US" sz="1700" b="1" dirty="0">
                <a:solidFill>
                  <a:schemeClr val="accent3"/>
                </a:solidFill>
                <a:latin typeface="Calibri" pitchFamily="34" charset="0"/>
                <a:ea typeface="Calibri" pitchFamily="34" charset="-122"/>
                <a:cs typeface="Calibri" pitchFamily="34" charset="-120"/>
              </a:rPr>
              <a:t>Worry shredder</a:t>
            </a:r>
            <a:endParaRPr lang="en-US" sz="1700" dirty="0"/>
          </a:p>
        </p:txBody>
      </p:sp>
      <p:sp>
        <p:nvSpPr>
          <p:cNvPr id="13" name="Text 9"/>
          <p:cNvSpPr txBox="1"/>
          <p:nvPr/>
        </p:nvSpPr>
        <p:spPr>
          <a:xfrm>
            <a:off x="3337560" y="3429000"/>
            <a:ext cx="1874520" cy="11430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Type a worry, watch it shred and fade. Nothing is saved.</a:t>
            </a:r>
            <a:endParaRPr lang="en-US" sz="1300" dirty="0"/>
          </a:p>
        </p:txBody>
      </p:sp>
      <p:sp>
        <p:nvSpPr>
          <p:cNvPr id="14" name="card"/>
          <p:cNvSpPr/>
          <p:nvPr/>
        </p:nvSpPr>
        <p:spPr>
          <a:xfrm>
            <a:off x="5577840" y="1828800"/>
            <a:ext cx="2331720" cy="2514600"/>
          </a:xfrm>
          <a:prstGeom prst="roundRect">
            <a:avLst>
              <a:gd name="adj" fmla="val 7059"/>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15" name="icon circle"/>
          <p:cNvSpPr/>
          <p:nvPr/>
        </p:nvSpPr>
        <p:spPr>
          <a:xfrm>
            <a:off x="5852160" y="2103120"/>
            <a:ext cx="731520" cy="731520"/>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3"/>
          <a:stretch>
            <a:fillRect/>
          </a:stretch>
        </p:blipFill>
        <p:spPr>
          <a:xfrm>
            <a:off x="6027725" y="2278685"/>
            <a:ext cx="380390" cy="380390"/>
          </a:xfrm>
          <a:prstGeom prst="rect">
            <a:avLst/>
          </a:prstGeom>
        </p:spPr>
      </p:pic>
      <p:sp>
        <p:nvSpPr>
          <p:cNvPr id="17" name="Text 12"/>
          <p:cNvSpPr txBox="1"/>
          <p:nvPr/>
        </p:nvSpPr>
        <p:spPr>
          <a:xfrm>
            <a:off x="5852160" y="2971800"/>
            <a:ext cx="1920240" cy="411480"/>
          </a:xfrm>
          <a:prstGeom prst="rect">
            <a:avLst/>
          </a:prstGeom>
          <a:noFill/>
          <a:ln/>
        </p:spPr>
        <p:txBody>
          <a:bodyPr wrap="square" lIns="0" tIns="0" rIns="0" bIns="0" rtlCol="0" anchor="t"/>
          <a:lstStyle/>
          <a:p>
            <a:pPr indent="0" marL="0">
              <a:buNone/>
            </a:pPr>
            <a:r>
              <a:rPr lang="en-US" sz="1700" b="1" dirty="0">
                <a:solidFill>
                  <a:schemeClr val="accent1"/>
                </a:solidFill>
                <a:latin typeface="Calibri" pitchFamily="34" charset="0"/>
                <a:ea typeface="Calibri" pitchFamily="34" charset="-122"/>
                <a:cs typeface="Calibri" pitchFamily="34" charset="-120"/>
              </a:rPr>
              <a:t>Ripples pond</a:t>
            </a:r>
            <a:endParaRPr lang="en-US" sz="1700" dirty="0"/>
          </a:p>
        </p:txBody>
      </p:sp>
      <p:sp>
        <p:nvSpPr>
          <p:cNvPr id="18" name="Text 13"/>
          <p:cNvSpPr txBox="1"/>
          <p:nvPr/>
        </p:nvSpPr>
        <p:spPr>
          <a:xfrm>
            <a:off x="5852160" y="3429000"/>
            <a:ext cx="1874520" cy="11430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Tap the water and watch calm rings spread, or let it rain.</a:t>
            </a:r>
            <a:endParaRPr lang="en-US" sz="1300" dirty="0"/>
          </a:p>
        </p:txBody>
      </p:sp>
      <p:sp>
        <p:nvSpPr>
          <p:cNvPr id="19" name="Text 14"/>
          <p:cNvSpPr txBox="1"/>
          <p:nvPr/>
        </p:nvSpPr>
        <p:spPr>
          <a:xfrm>
            <a:off x="548640" y="4480560"/>
            <a:ext cx="3657600" cy="320040"/>
          </a:xfrm>
          <a:prstGeom prst="rect">
            <a:avLst/>
          </a:prstGeom>
          <a:noFill/>
          <a:ln/>
        </p:spPr>
        <p:txBody>
          <a:bodyPr wrap="square" lIns="0" tIns="0" rIns="0" bIns="0" rtlCol="0" anchor="t"/>
          <a:lstStyle/>
          <a:p>
            <a:pPr indent="0" marL="0">
              <a:buNone/>
            </a:pPr>
            <a:r>
              <a:rPr lang="en-US" sz="1300" i="1" dirty="0">
                <a:solidFill>
                  <a:srgbClr val="000000"/>
                </a:solidFill>
                <a:latin typeface="Calibri" pitchFamily="34" charset="0"/>
                <a:ea typeface="Calibri" pitchFamily="34" charset="-122"/>
                <a:cs typeface="Calibri" pitchFamily="34" charset="-120"/>
              </a:rPr>
              <a:t>Games built by Merel</a:t>
            </a:r>
            <a:endParaRPr lang="en-US" sz="1300" dirty="0"/>
          </a:p>
        </p:txBody>
      </p:sp>
      <p:sp>
        <p:nvSpPr>
          <p:cNvPr id="20" name="card"/>
          <p:cNvSpPr/>
          <p:nvPr/>
        </p:nvSpPr>
        <p:spPr>
          <a:xfrm>
            <a:off x="8229600" y="1828800"/>
            <a:ext cx="3429000" cy="1188720"/>
          </a:xfrm>
          <a:prstGeom prst="roundRect">
            <a:avLst>
              <a:gd name="adj" fmla="val 13846"/>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21" name="icon circle"/>
          <p:cNvSpPr/>
          <p:nvPr/>
        </p:nvSpPr>
        <p:spPr>
          <a:xfrm>
            <a:off x="8458200" y="2103120"/>
            <a:ext cx="731520" cy="731520"/>
          </a:xfrm>
          <a:prstGeom prst="ellipse">
            <a:avLst/>
          </a:prstGeom>
          <a:solidFill>
            <a:schemeClr val="accent5"/>
          </a:solidFill>
          <a:ln w="12700">
            <a:solidFill>
              <a:schemeClr val="accent5"/>
            </a:solidFill>
            <a:prstDash val="solid"/>
          </a:ln>
        </p:spPr>
      </p:sp>
      <p:pic>
        <p:nvPicPr>
          <p:cNvPr id="22" name="icon" descr="preencoded.png">    </p:cNvPr>
          <p:cNvPicPr>
            <a:picLocks noChangeAspect="1"/>
          </p:cNvPicPr>
          <p:nvPr/>
        </p:nvPicPr>
        <p:blipFill>
          <a:blip r:embed="rId4"/>
          <a:stretch>
            <a:fillRect/>
          </a:stretch>
        </p:blipFill>
        <p:spPr>
          <a:xfrm>
            <a:off x="8633765" y="2278685"/>
            <a:ext cx="380390" cy="380390"/>
          </a:xfrm>
          <a:prstGeom prst="rect">
            <a:avLst/>
          </a:prstGeom>
        </p:spPr>
      </p:pic>
      <p:sp>
        <p:nvSpPr>
          <p:cNvPr id="23" name="Text 17"/>
          <p:cNvSpPr txBox="1"/>
          <p:nvPr/>
        </p:nvSpPr>
        <p:spPr>
          <a:xfrm>
            <a:off x="9372600" y="1993392"/>
            <a:ext cx="2148840" cy="365760"/>
          </a:xfrm>
          <a:prstGeom prst="rect">
            <a:avLst/>
          </a:prstGeom>
          <a:noFill/>
          <a:ln/>
        </p:spPr>
        <p:txBody>
          <a:bodyPr wrap="square" lIns="0" tIns="0" rIns="0" bIns="0" rtlCol="0" anchor="t"/>
          <a:lstStyle/>
          <a:p>
            <a:pPr indent="0" marL="0">
              <a:buNone/>
            </a:pPr>
            <a:r>
              <a:rPr lang="en-US" sz="1700" b="1" dirty="0">
                <a:solidFill>
                  <a:schemeClr val="accent5"/>
                </a:solidFill>
                <a:latin typeface="Calibri" pitchFamily="34" charset="0"/>
                <a:ea typeface="Calibri" pitchFamily="34" charset="-122"/>
                <a:cs typeface="Calibri" pitchFamily="34" charset="-120"/>
              </a:rPr>
              <a:t>Breathe</a:t>
            </a:r>
            <a:endParaRPr lang="en-US" sz="1700" dirty="0"/>
          </a:p>
        </p:txBody>
      </p:sp>
      <p:sp>
        <p:nvSpPr>
          <p:cNvPr id="24" name="Text 18"/>
          <p:cNvSpPr txBox="1"/>
          <p:nvPr/>
        </p:nvSpPr>
        <p:spPr>
          <a:xfrm>
            <a:off x="9372600" y="2359152"/>
            <a:ext cx="21488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 circle that grows for 4 s and shrinks for 6 s. One minute.</a:t>
            </a:r>
            <a:endParaRPr lang="en-US" sz="1200" dirty="0"/>
          </a:p>
        </p:txBody>
      </p:sp>
      <p:sp>
        <p:nvSpPr>
          <p:cNvPr id="25" name="card"/>
          <p:cNvSpPr/>
          <p:nvPr/>
        </p:nvSpPr>
        <p:spPr>
          <a:xfrm>
            <a:off x="8229600" y="3154680"/>
            <a:ext cx="3429000" cy="1188720"/>
          </a:xfrm>
          <a:prstGeom prst="roundRect">
            <a:avLst>
              <a:gd name="adj" fmla="val 13846"/>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26" name="icon circle"/>
          <p:cNvSpPr/>
          <p:nvPr/>
        </p:nvSpPr>
        <p:spPr>
          <a:xfrm>
            <a:off x="8458200" y="3429000"/>
            <a:ext cx="731520" cy="731520"/>
          </a:xfrm>
          <a:prstGeom prst="ellipse">
            <a:avLst/>
          </a:prstGeom>
          <a:solidFill>
            <a:schemeClr val="accent1"/>
          </a:solidFill>
          <a:ln w="12700">
            <a:solidFill>
              <a:schemeClr val="accent1"/>
            </a:solidFill>
            <a:prstDash val="solid"/>
          </a:ln>
        </p:spPr>
      </p:sp>
      <p:pic>
        <p:nvPicPr>
          <p:cNvPr id="27" name="icon" descr="preencoded.png">    </p:cNvPr>
          <p:cNvPicPr>
            <a:picLocks noChangeAspect="1"/>
          </p:cNvPicPr>
          <p:nvPr/>
        </p:nvPicPr>
        <p:blipFill>
          <a:blip r:embed="rId5"/>
          <a:stretch>
            <a:fillRect/>
          </a:stretch>
        </p:blipFill>
        <p:spPr>
          <a:xfrm>
            <a:off x="8633765" y="3604565"/>
            <a:ext cx="380390" cy="380390"/>
          </a:xfrm>
          <a:prstGeom prst="rect">
            <a:avLst/>
          </a:prstGeom>
        </p:spPr>
      </p:pic>
      <p:sp>
        <p:nvSpPr>
          <p:cNvPr id="28" name="Text 21"/>
          <p:cNvSpPr txBox="1"/>
          <p:nvPr/>
        </p:nvSpPr>
        <p:spPr>
          <a:xfrm>
            <a:off x="9372600" y="3319272"/>
            <a:ext cx="2148840" cy="365760"/>
          </a:xfrm>
          <a:prstGeom prst="rect">
            <a:avLst/>
          </a:prstGeom>
          <a:noFill/>
          <a:ln/>
        </p:spPr>
        <p:txBody>
          <a:bodyPr wrap="square" lIns="0" tIns="0" rIns="0" bIns="0" rtlCol="0" anchor="t"/>
          <a:lstStyle/>
          <a:p>
            <a:pPr indent="0" marL="0">
              <a:buNone/>
            </a:pPr>
            <a:r>
              <a:rPr lang="en-US" sz="1700" b="1" dirty="0">
                <a:solidFill>
                  <a:schemeClr val="accent1"/>
                </a:solidFill>
                <a:latin typeface="Calibri" pitchFamily="34" charset="0"/>
                <a:ea typeface="Calibri" pitchFamily="34" charset="-122"/>
                <a:cs typeface="Calibri" pitchFamily="34" charset="-120"/>
              </a:rPr>
              <a:t>Companion</a:t>
            </a:r>
            <a:endParaRPr lang="en-US" sz="1700" dirty="0"/>
          </a:p>
        </p:txBody>
      </p:sp>
      <p:sp>
        <p:nvSpPr>
          <p:cNvPr id="29" name="Text 22"/>
          <p:cNvSpPr txBox="1"/>
          <p:nvPr/>
        </p:nvSpPr>
        <p:spPr>
          <a:xfrm>
            <a:off x="9372600" y="3685032"/>
            <a:ext cx="214884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Chat or hold to talk. It explains your own numbers kindly.</a:t>
            </a:r>
            <a:endParaRPr lang="en-US" sz="1200" dirty="0"/>
          </a:p>
        </p:txBody>
      </p:sp>
      <p:sp>
        <p:nvSpPr>
          <p:cNvPr id="30" name="card"/>
          <p:cNvSpPr/>
          <p:nvPr/>
        </p:nvSpPr>
        <p:spPr>
          <a:xfrm>
            <a:off x="548640" y="5029200"/>
            <a:ext cx="11109960" cy="868680"/>
          </a:xfrm>
          <a:prstGeom prst="roundRect">
            <a:avLst>
              <a:gd name="adj" fmla="val 18947"/>
            </a:avLst>
          </a:prstGeom>
          <a:solidFill>
            <a:schemeClr val="tx2"/>
          </a:solidFill>
          <a:ln w="12700">
            <a:solidFill>
              <a:schemeClr val="tx2"/>
            </a:solidFill>
            <a:prstDash val="solid"/>
          </a:ln>
        </p:spPr>
      </p:sp>
      <p:sp>
        <p:nvSpPr>
          <p:cNvPr id="31" name="Text 24"/>
          <p:cNvSpPr txBox="1"/>
          <p:nvPr/>
        </p:nvSpPr>
        <p:spPr>
          <a:xfrm>
            <a:off x="822960" y="5029200"/>
            <a:ext cx="10607040" cy="868680"/>
          </a:xfrm>
          <a:prstGeom prst="rect">
            <a:avLst/>
          </a:prstGeom>
          <a:noFill/>
          <a:ln/>
        </p:spPr>
        <p:txBody>
          <a:bodyPr wrap="square" lIns="0" tIns="0" rIns="0" bIns="0" rtlCol="0" anchor="ctr"/>
          <a:lstStyle/>
          <a:p>
            <a:pPr indent="0" marL="0">
              <a:buNone/>
            </a:pPr>
            <a:r>
              <a:rPr lang="en-US" sz="1700" i="1" dirty="0">
                <a:solidFill>
                  <a:schemeClr val="bg1"/>
                </a:solidFill>
                <a:latin typeface="Cambria" pitchFamily="34" charset="0"/>
                <a:ea typeface="Cambria" pitchFamily="34" charset="-122"/>
                <a:cs typeface="Cambria" pitchFamily="34" charset="-120"/>
              </a:rPr>
              <a:t>A student who sees "needs care" gets something to do in the next ten seconds, not a lecture.</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Safe by design</a:t>
            </a:r>
            <a:endParaRPr lang="en-US" sz="3600" dirty="0"/>
          </a:p>
        </p:txBody>
      </p:sp>
      <p:sp>
        <p:nvSpPr>
          <p:cNvPr id="3" name="card"/>
          <p:cNvSpPr/>
          <p:nvPr/>
        </p:nvSpPr>
        <p:spPr>
          <a:xfrm>
            <a:off x="548640" y="1463040"/>
            <a:ext cx="5486400" cy="2103120"/>
          </a:xfrm>
          <a:prstGeom prst="roundRect">
            <a:avLst>
              <a:gd name="adj" fmla="val 7826"/>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4" name="icon circle"/>
          <p:cNvSpPr/>
          <p:nvPr/>
        </p:nvSpPr>
        <p:spPr>
          <a:xfrm>
            <a:off x="868680" y="1828800"/>
            <a:ext cx="868680" cy="86868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1077163" y="2037283"/>
            <a:ext cx="451714" cy="451714"/>
          </a:xfrm>
          <a:prstGeom prst="rect">
            <a:avLst/>
          </a:prstGeom>
        </p:spPr>
      </p:pic>
      <p:sp>
        <p:nvSpPr>
          <p:cNvPr id="6" name="Text 3"/>
          <p:cNvSpPr txBox="1"/>
          <p:nvPr/>
        </p:nvSpPr>
        <p:spPr>
          <a:xfrm>
            <a:off x="1965960" y="1783080"/>
            <a:ext cx="3840480" cy="457200"/>
          </a:xfrm>
          <a:prstGeom prst="rect">
            <a:avLst/>
          </a:prstGeom>
          <a:noFill/>
          <a:ln/>
        </p:spPr>
        <p:txBody>
          <a:bodyPr wrap="square" lIns="0" tIns="0" rIns="0" bIns="0" rtlCol="0" anchor="t"/>
          <a:lstStyle/>
          <a:p>
            <a:pPr indent="0" marL="0">
              <a:buNone/>
            </a:pPr>
            <a:r>
              <a:rPr lang="en-US" sz="1900" b="1" dirty="0">
                <a:solidFill>
                  <a:schemeClr val="accent1"/>
                </a:solidFill>
                <a:latin typeface="Calibri" pitchFamily="34" charset="0"/>
                <a:ea typeface="Calibri" pitchFamily="34" charset="-122"/>
                <a:cs typeface="Calibri" pitchFamily="34" charset="-120"/>
              </a:rPr>
              <a:t>Never diagnoses</a:t>
            </a:r>
            <a:endParaRPr lang="en-US" sz="1900" dirty="0"/>
          </a:p>
        </p:txBody>
      </p:sp>
      <p:sp>
        <p:nvSpPr>
          <p:cNvPr id="7" name="Text 4"/>
          <p:cNvSpPr txBox="1"/>
          <p:nvPr/>
        </p:nvSpPr>
        <p:spPr>
          <a:xfrm>
            <a:off x="1965960" y="2286000"/>
            <a:ext cx="384048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No labels, no disorders. We show changes against your own normal and suggest small steps.</a:t>
            </a:r>
            <a:endParaRPr lang="en-US" sz="1500" dirty="0"/>
          </a:p>
        </p:txBody>
      </p:sp>
      <p:sp>
        <p:nvSpPr>
          <p:cNvPr id="8" name="card"/>
          <p:cNvSpPr/>
          <p:nvPr/>
        </p:nvSpPr>
        <p:spPr>
          <a:xfrm>
            <a:off x="6172200" y="1463040"/>
            <a:ext cx="5486400" cy="2103120"/>
          </a:xfrm>
          <a:prstGeom prst="roundRect">
            <a:avLst>
              <a:gd name="adj" fmla="val 7826"/>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9" name="icon circle"/>
          <p:cNvSpPr/>
          <p:nvPr/>
        </p:nvSpPr>
        <p:spPr>
          <a:xfrm>
            <a:off x="6492240" y="1828800"/>
            <a:ext cx="868680" cy="868680"/>
          </a:xfrm>
          <a:prstGeom prst="ellipse">
            <a:avLst/>
          </a:prstGeom>
          <a:solidFill>
            <a:schemeClr val="accent5"/>
          </a:solidFill>
          <a:ln w="12700">
            <a:solidFill>
              <a:schemeClr val="accent5"/>
            </a:solidFill>
            <a:prstDash val="solid"/>
          </a:ln>
        </p:spPr>
      </p:sp>
      <p:pic>
        <p:nvPicPr>
          <p:cNvPr id="10" name="icon" descr="preencoded.png">    </p:cNvPr>
          <p:cNvPicPr>
            <a:picLocks noChangeAspect="1"/>
          </p:cNvPicPr>
          <p:nvPr/>
        </p:nvPicPr>
        <p:blipFill>
          <a:blip r:embed="rId2"/>
          <a:stretch>
            <a:fillRect/>
          </a:stretch>
        </p:blipFill>
        <p:spPr>
          <a:xfrm>
            <a:off x="6700723" y="2037283"/>
            <a:ext cx="451714" cy="451714"/>
          </a:xfrm>
          <a:prstGeom prst="rect">
            <a:avLst/>
          </a:prstGeom>
        </p:spPr>
      </p:pic>
      <p:sp>
        <p:nvSpPr>
          <p:cNvPr id="11" name="Text 7"/>
          <p:cNvSpPr txBox="1"/>
          <p:nvPr/>
        </p:nvSpPr>
        <p:spPr>
          <a:xfrm>
            <a:off x="7589520" y="1783080"/>
            <a:ext cx="3840480" cy="457200"/>
          </a:xfrm>
          <a:prstGeom prst="rect">
            <a:avLst/>
          </a:prstGeom>
          <a:noFill/>
          <a:ln/>
        </p:spPr>
        <p:txBody>
          <a:bodyPr wrap="square" lIns="0" tIns="0" rIns="0" bIns="0" rtlCol="0" anchor="t"/>
          <a:lstStyle/>
          <a:p>
            <a:pPr indent="0" marL="0">
              <a:buNone/>
            </a:pPr>
            <a:r>
              <a:rPr lang="en-US" sz="1900" b="1" dirty="0">
                <a:solidFill>
                  <a:schemeClr val="accent5"/>
                </a:solidFill>
                <a:latin typeface="Calibri" pitchFamily="34" charset="0"/>
                <a:ea typeface="Calibri" pitchFamily="34" charset="-122"/>
                <a:cs typeface="Calibri" pitchFamily="34" charset="-120"/>
              </a:rPr>
              <a:t>Code calculates, AI explains</a:t>
            </a:r>
            <a:endParaRPr lang="en-US" sz="1900" dirty="0"/>
          </a:p>
        </p:txBody>
      </p:sp>
      <p:sp>
        <p:nvSpPr>
          <p:cNvPr id="12" name="Text 8"/>
          <p:cNvSpPr txBox="1"/>
          <p:nvPr/>
        </p:nvSpPr>
        <p:spPr>
          <a:xfrm>
            <a:off x="7589520" y="2286000"/>
            <a:ext cx="384048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Numbers come from a tested engine. The AI gets only those facts, two sentences, no medical advice.</a:t>
            </a:r>
            <a:endParaRPr lang="en-US" sz="1500" dirty="0"/>
          </a:p>
        </p:txBody>
      </p:sp>
      <p:sp>
        <p:nvSpPr>
          <p:cNvPr id="13" name="card"/>
          <p:cNvSpPr/>
          <p:nvPr/>
        </p:nvSpPr>
        <p:spPr>
          <a:xfrm>
            <a:off x="548640" y="3794760"/>
            <a:ext cx="5486400" cy="2103120"/>
          </a:xfrm>
          <a:prstGeom prst="roundRect">
            <a:avLst>
              <a:gd name="adj" fmla="val 7826"/>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14" name="icon circle"/>
          <p:cNvSpPr/>
          <p:nvPr/>
        </p:nvSpPr>
        <p:spPr>
          <a:xfrm>
            <a:off x="868680" y="4160520"/>
            <a:ext cx="868680" cy="868680"/>
          </a:xfrm>
          <a:prstGeom prst="ellipse">
            <a:avLst/>
          </a:prstGeom>
          <a:solidFill>
            <a:schemeClr val="tx2"/>
          </a:solidFill>
          <a:ln w="12700">
            <a:solidFill>
              <a:schemeClr val="tx2"/>
            </a:solidFill>
            <a:prstDash val="solid"/>
          </a:ln>
        </p:spPr>
      </p:sp>
      <p:pic>
        <p:nvPicPr>
          <p:cNvPr id="15" name="icon" descr="preencoded.png">    </p:cNvPr>
          <p:cNvPicPr>
            <a:picLocks noChangeAspect="1"/>
          </p:cNvPicPr>
          <p:nvPr/>
        </p:nvPicPr>
        <p:blipFill>
          <a:blip r:embed="rId3"/>
          <a:stretch>
            <a:fillRect/>
          </a:stretch>
        </p:blipFill>
        <p:spPr>
          <a:xfrm>
            <a:off x="1077163" y="4369003"/>
            <a:ext cx="451714" cy="451714"/>
          </a:xfrm>
          <a:prstGeom prst="rect">
            <a:avLst/>
          </a:prstGeom>
        </p:spPr>
      </p:pic>
      <p:sp>
        <p:nvSpPr>
          <p:cNvPr id="16" name="Text 11"/>
          <p:cNvSpPr txBox="1"/>
          <p:nvPr/>
        </p:nvSpPr>
        <p:spPr>
          <a:xfrm>
            <a:off x="1965960" y="4114800"/>
            <a:ext cx="3840480" cy="457200"/>
          </a:xfrm>
          <a:prstGeom prst="rect">
            <a:avLst/>
          </a:prstGeom>
          <a:noFill/>
          <a:ln/>
        </p:spPr>
        <p:txBody>
          <a:bodyPr wrap="square" lIns="0" tIns="0" rIns="0" bIns="0" rtlCol="0" anchor="t"/>
          <a:lstStyle/>
          <a:p>
            <a:pPr indent="0" marL="0">
              <a:buNone/>
            </a:pPr>
            <a:r>
              <a:rPr lang="en-US" sz="1900" b="1" dirty="0">
                <a:solidFill>
                  <a:schemeClr val="tx2"/>
                </a:solidFill>
                <a:latin typeface="Calibri" pitchFamily="34" charset="0"/>
                <a:ea typeface="Calibri" pitchFamily="34" charset="-122"/>
                <a:cs typeface="Calibri" pitchFamily="34" charset="-120"/>
              </a:rPr>
              <a:t>Your data stays with you</a:t>
            </a:r>
            <a:endParaRPr lang="en-US" sz="1900" dirty="0"/>
          </a:p>
        </p:txBody>
      </p:sp>
      <p:sp>
        <p:nvSpPr>
          <p:cNvPr id="17" name="Text 12"/>
          <p:cNvSpPr txBox="1"/>
          <p:nvPr/>
        </p:nvSpPr>
        <p:spPr>
          <a:xfrm>
            <a:off x="1965960" y="4617720"/>
            <a:ext cx="384048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Check-ins and history live in your browser. No accounts, no server database. Voice is processed, not stored.</a:t>
            </a:r>
            <a:endParaRPr lang="en-US" sz="1500" dirty="0"/>
          </a:p>
        </p:txBody>
      </p:sp>
      <p:sp>
        <p:nvSpPr>
          <p:cNvPr id="18" name="card"/>
          <p:cNvSpPr/>
          <p:nvPr/>
        </p:nvSpPr>
        <p:spPr>
          <a:xfrm>
            <a:off x="6172200" y="3794760"/>
            <a:ext cx="5486400" cy="2103120"/>
          </a:xfrm>
          <a:prstGeom prst="roundRect">
            <a:avLst>
              <a:gd name="adj" fmla="val 7826"/>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19" name="icon circle"/>
          <p:cNvSpPr/>
          <p:nvPr/>
        </p:nvSpPr>
        <p:spPr>
          <a:xfrm>
            <a:off x="6492240" y="4160520"/>
            <a:ext cx="868680" cy="868680"/>
          </a:xfrm>
          <a:prstGeom prst="ellipse">
            <a:avLst/>
          </a:prstGeom>
          <a:solidFill>
            <a:schemeClr val="accent3"/>
          </a:solidFill>
          <a:ln w="12700">
            <a:solidFill>
              <a:schemeClr val="accent3"/>
            </a:solidFill>
            <a:prstDash val="solid"/>
          </a:ln>
        </p:spPr>
      </p:sp>
      <p:pic>
        <p:nvPicPr>
          <p:cNvPr id="20" name="icon" descr="preencoded.png">    </p:cNvPr>
          <p:cNvPicPr>
            <a:picLocks noChangeAspect="1"/>
          </p:cNvPicPr>
          <p:nvPr/>
        </p:nvPicPr>
        <p:blipFill>
          <a:blip r:embed="rId4"/>
          <a:stretch>
            <a:fillRect/>
          </a:stretch>
        </p:blipFill>
        <p:spPr>
          <a:xfrm>
            <a:off x="6700723" y="4369003"/>
            <a:ext cx="451714" cy="451714"/>
          </a:xfrm>
          <a:prstGeom prst="rect">
            <a:avLst/>
          </a:prstGeom>
        </p:spPr>
      </p:pic>
      <p:sp>
        <p:nvSpPr>
          <p:cNvPr id="21" name="Text 15"/>
          <p:cNvSpPr txBox="1"/>
          <p:nvPr/>
        </p:nvSpPr>
        <p:spPr>
          <a:xfrm>
            <a:off x="7589520" y="4114800"/>
            <a:ext cx="3840480" cy="457200"/>
          </a:xfrm>
          <a:prstGeom prst="rect">
            <a:avLst/>
          </a:prstGeom>
          <a:noFill/>
          <a:ln/>
        </p:spPr>
        <p:txBody>
          <a:bodyPr wrap="square" lIns="0" tIns="0" rIns="0" bIns="0" rtlCol="0" anchor="t"/>
          <a:lstStyle/>
          <a:p>
            <a:pPr indent="0" marL="0">
              <a:buNone/>
            </a:pPr>
            <a:r>
              <a:rPr lang="en-US" sz="1900" b="1" dirty="0">
                <a:solidFill>
                  <a:schemeClr val="accent3"/>
                </a:solidFill>
                <a:latin typeface="Calibri" pitchFamily="34" charset="0"/>
                <a:ea typeface="Calibri" pitchFamily="34" charset="-122"/>
                <a:cs typeface="Calibri" pitchFamily="34" charset="-120"/>
              </a:rPr>
              <a:t>Crisis goes to people</a:t>
            </a:r>
            <a:endParaRPr lang="en-US" sz="1900" dirty="0"/>
          </a:p>
        </p:txBody>
      </p:sp>
      <p:sp>
        <p:nvSpPr>
          <p:cNvPr id="22" name="Text 16"/>
          <p:cNvSpPr txBox="1"/>
          <p:nvPr/>
        </p:nvSpPr>
        <p:spPr>
          <a:xfrm>
            <a:off x="7589520" y="4617720"/>
            <a:ext cx="384048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Crisis words skip the AI and show Tele-MANAS 14416 (free, 24×7) and 112, every time.</a:t>
            </a:r>
            <a:endParaRPr lang="en-US" sz="1500" dirty="0"/>
          </a:p>
        </p:txBody>
      </p:sp>
      <p:sp>
        <p:nvSpPr>
          <p:cNvPr id="23" name="Text 17"/>
          <p:cNvSpPr txBox="1"/>
          <p:nvPr/>
        </p:nvSpPr>
        <p:spPr>
          <a:xfrm>
            <a:off x="548640" y="6080760"/>
            <a:ext cx="10972800" cy="274320"/>
          </a:xfrm>
          <a:prstGeom prst="rect">
            <a:avLst/>
          </a:prstGeom>
          <a:noFill/>
          <a:ln/>
        </p:spPr>
        <p:txBody>
          <a:bodyPr wrap="square" lIns="0" tIns="0" rIns="0" bIns="0" rtlCol="0" anchor="t"/>
          <a:lstStyle/>
          <a:p>
            <a:pPr indent="0" marL="0">
              <a:buNone/>
            </a:pPr>
            <a:r>
              <a:rPr lang="en-US" sz="1200" i="1" dirty="0">
                <a:solidFill>
                  <a:srgbClr val="000000"/>
                </a:solidFill>
                <a:latin typeface="Calibri" pitchFamily="34" charset="0"/>
                <a:ea typeface="Calibri" pitchFamily="34" charset="-122"/>
                <a:cs typeface="Calibri" pitchFamily="34" charset="-120"/>
              </a:rPr>
              <a:t>MindMirror is not a medical device and does not diagnose.</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Live demo</a:t>
            </a:r>
            <a:endParaRPr lang="en-US" sz="3600" dirty="0"/>
          </a:p>
        </p:txBody>
      </p:sp>
      <p:sp>
        <p:nvSpPr>
          <p:cNvPr id="3" name="step number"/>
          <p:cNvSpPr/>
          <p:nvPr/>
        </p:nvSpPr>
        <p:spPr>
          <a:xfrm>
            <a:off x="548640" y="1463040"/>
            <a:ext cx="640080" cy="640080"/>
          </a:xfrm>
          <a:prstGeom prst="ellipse">
            <a:avLst/>
          </a:prstGeom>
          <a:solidFill>
            <a:schemeClr val="accent1"/>
          </a:solidFill>
          <a:ln w="12700">
            <a:solidFill>
              <a:schemeClr val="bg1"/>
            </a:solidFill>
            <a:prstDash val="solid"/>
          </a:ln>
        </p:spPr>
      </p:sp>
      <p:sp>
        <p:nvSpPr>
          <p:cNvPr id="4" name="Text 2"/>
          <p:cNvSpPr txBox="1"/>
          <p:nvPr/>
        </p:nvSpPr>
        <p:spPr>
          <a:xfrm>
            <a:off x="548640" y="14630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1</a:t>
            </a:r>
            <a:endParaRPr lang="en-US" sz="2200" dirty="0"/>
          </a:p>
        </p:txBody>
      </p:sp>
      <p:sp>
        <p:nvSpPr>
          <p:cNvPr id="5" name="Text 3"/>
          <p:cNvSpPr txBox="1"/>
          <p:nvPr/>
        </p:nvSpPr>
        <p:spPr>
          <a:xfrm>
            <a:off x="1417320" y="1463040"/>
            <a:ext cx="2011680" cy="640080"/>
          </a:xfrm>
          <a:prstGeom prst="rect">
            <a:avLst/>
          </a:prstGeom>
          <a:noFill/>
          <a:ln/>
        </p:spPr>
        <p:txBody>
          <a:bodyPr wrap="square" lIns="0" tIns="0" rIns="0" bIns="0" rtlCol="0" anchor="ctr"/>
          <a:lstStyle/>
          <a:p>
            <a:pPr indent="0" marL="0">
              <a:buNone/>
            </a:pPr>
            <a:r>
              <a:rPr lang="en-US" sz="2000" b="1" dirty="0">
                <a:solidFill>
                  <a:schemeClr val="bg1"/>
                </a:solidFill>
                <a:latin typeface="Calibri" pitchFamily="34" charset="0"/>
                <a:ea typeface="Calibri" pitchFamily="34" charset="-122"/>
                <a:cs typeface="Calibri" pitchFamily="34" charset="-120"/>
              </a:rPr>
              <a:t>Home</a:t>
            </a:r>
            <a:endParaRPr lang="en-US" sz="2000" dirty="0"/>
          </a:p>
        </p:txBody>
      </p:sp>
      <p:sp>
        <p:nvSpPr>
          <p:cNvPr id="6" name="Text 4"/>
          <p:cNvSpPr txBox="1"/>
          <p:nvPr/>
        </p:nvSpPr>
        <p:spPr>
          <a:xfrm>
            <a:off x="3429000" y="1463040"/>
            <a:ext cx="5669280" cy="640080"/>
          </a:xfrm>
          <a:prstGeom prst="rect">
            <a:avLst/>
          </a:prstGeom>
          <a:noFill/>
          <a:ln/>
        </p:spPr>
        <p:txBody>
          <a:bodyPr wrap="square" lIns="0" tIns="0" rIns="0" bIns="0" rtlCol="0" anchor="ctr"/>
          <a:lstStyle/>
          <a:p>
            <a:pPr indent="0" marL="0">
              <a:buNone/>
            </a:pPr>
            <a:r>
              <a:rPr lang="en-US" sz="1600" dirty="0">
                <a:solidFill>
                  <a:schemeClr val="accent6"/>
                </a:solidFill>
                <a:latin typeface="Calibri" pitchFamily="34" charset="0"/>
                <a:ea typeface="Calibri" pitchFamily="34" charset="-122"/>
                <a:cs typeface="Calibri" pitchFamily="34" charset="-120"/>
              </a:rPr>
              <a:t>Asha after 3 weeks: soft rain</a:t>
            </a:r>
            <a:endParaRPr lang="en-US" sz="1600" dirty="0"/>
          </a:p>
        </p:txBody>
      </p:sp>
      <p:sp>
        <p:nvSpPr>
          <p:cNvPr id="7" name="Text 5"/>
          <p:cNvSpPr txBox="1"/>
          <p:nvPr/>
        </p:nvSpPr>
        <p:spPr>
          <a:xfrm>
            <a:off x="9235440" y="1463040"/>
            <a:ext cx="2377440" cy="640080"/>
          </a:xfrm>
          <a:prstGeom prst="rect">
            <a:avLst/>
          </a:prstGeom>
          <a:noFill/>
          <a:ln/>
        </p:spPr>
        <p:txBody>
          <a:bodyPr wrap="square" lIns="0" tIns="0" rIns="0" bIns="0" rtlCol="0" anchor="ctr"/>
          <a:lstStyle/>
          <a:p>
            <a:pPr algn="r" indent="0" marL="0">
              <a:buNone/>
            </a:pPr>
            <a:r>
              <a:rPr lang="en-US" sz="1400" i="1" dirty="0">
                <a:solidFill>
                  <a:schemeClr val="accent2"/>
                </a:solidFill>
                <a:latin typeface="Calibri" pitchFamily="34" charset="0"/>
                <a:ea typeface="Calibri" pitchFamily="34" charset="-122"/>
                <a:cs typeface="Calibri" pitchFamily="34" charset="-120"/>
              </a:rPr>
              <a:t>Merel</a:t>
            </a:r>
            <a:endParaRPr lang="en-US" sz="1400" dirty="0"/>
          </a:p>
        </p:txBody>
      </p:sp>
      <p:sp>
        <p:nvSpPr>
          <p:cNvPr id="8" name="step number"/>
          <p:cNvSpPr/>
          <p:nvPr/>
        </p:nvSpPr>
        <p:spPr>
          <a:xfrm>
            <a:off x="548640" y="2331720"/>
            <a:ext cx="640080" cy="640080"/>
          </a:xfrm>
          <a:prstGeom prst="ellipse">
            <a:avLst/>
          </a:prstGeom>
          <a:solidFill>
            <a:schemeClr val="accent1"/>
          </a:solidFill>
          <a:ln w="12700">
            <a:solidFill>
              <a:schemeClr val="bg1"/>
            </a:solidFill>
            <a:prstDash val="solid"/>
          </a:ln>
        </p:spPr>
      </p:sp>
      <p:sp>
        <p:nvSpPr>
          <p:cNvPr id="9" name="Text 7"/>
          <p:cNvSpPr txBox="1"/>
          <p:nvPr/>
        </p:nvSpPr>
        <p:spPr>
          <a:xfrm>
            <a:off x="548640" y="23317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2</a:t>
            </a:r>
            <a:endParaRPr lang="en-US" sz="2200" dirty="0"/>
          </a:p>
        </p:txBody>
      </p:sp>
      <p:sp>
        <p:nvSpPr>
          <p:cNvPr id="10" name="Text 8"/>
          <p:cNvSpPr txBox="1"/>
          <p:nvPr/>
        </p:nvSpPr>
        <p:spPr>
          <a:xfrm>
            <a:off x="1417320" y="2331720"/>
            <a:ext cx="2011680" cy="640080"/>
          </a:xfrm>
          <a:prstGeom prst="rect">
            <a:avLst/>
          </a:prstGeom>
          <a:noFill/>
          <a:ln/>
        </p:spPr>
        <p:txBody>
          <a:bodyPr wrap="square" lIns="0" tIns="0" rIns="0" bIns="0" rtlCol="0" anchor="ctr"/>
          <a:lstStyle/>
          <a:p>
            <a:pPr indent="0" marL="0">
              <a:buNone/>
            </a:pPr>
            <a:r>
              <a:rPr lang="en-US" sz="2000" b="1" dirty="0">
                <a:solidFill>
                  <a:schemeClr val="bg1"/>
                </a:solidFill>
                <a:latin typeface="Calibri" pitchFamily="34" charset="0"/>
                <a:ea typeface="Calibri" pitchFamily="34" charset="-122"/>
                <a:cs typeface="Calibri" pitchFamily="34" charset="-120"/>
              </a:rPr>
              <a:t>Insights</a:t>
            </a:r>
            <a:endParaRPr lang="en-US" sz="2000" dirty="0"/>
          </a:p>
        </p:txBody>
      </p:sp>
      <p:sp>
        <p:nvSpPr>
          <p:cNvPr id="11" name="Text 9"/>
          <p:cNvSpPr txBox="1"/>
          <p:nvPr/>
        </p:nvSpPr>
        <p:spPr>
          <a:xfrm>
            <a:off x="3429000" y="2331720"/>
            <a:ext cx="5669280" cy="640080"/>
          </a:xfrm>
          <a:prstGeom prst="rect">
            <a:avLst/>
          </a:prstGeom>
          <a:noFill/>
          <a:ln/>
        </p:spPr>
        <p:txBody>
          <a:bodyPr wrap="square" lIns="0" tIns="0" rIns="0" bIns="0" rtlCol="0" anchor="ctr"/>
          <a:lstStyle/>
          <a:p>
            <a:pPr indent="0" marL="0">
              <a:buNone/>
            </a:pPr>
            <a:r>
              <a:rPr lang="en-US" sz="1600" dirty="0">
                <a:solidFill>
                  <a:schemeClr val="accent6"/>
                </a:solidFill>
                <a:latin typeface="Calibri" pitchFamily="34" charset="0"/>
                <a:ea typeface="Calibri" pitchFamily="34" charset="-122"/>
                <a:cs typeface="Calibri" pitchFamily="34" charset="-120"/>
              </a:rPr>
              <a:t>Sleep: needs care, with the proof</a:t>
            </a:r>
            <a:endParaRPr lang="en-US" sz="1600" dirty="0"/>
          </a:p>
        </p:txBody>
      </p:sp>
      <p:sp>
        <p:nvSpPr>
          <p:cNvPr id="12" name="Text 10"/>
          <p:cNvSpPr txBox="1"/>
          <p:nvPr/>
        </p:nvSpPr>
        <p:spPr>
          <a:xfrm>
            <a:off x="9235440" y="2331720"/>
            <a:ext cx="2377440" cy="640080"/>
          </a:xfrm>
          <a:prstGeom prst="rect">
            <a:avLst/>
          </a:prstGeom>
          <a:noFill/>
          <a:ln/>
        </p:spPr>
        <p:txBody>
          <a:bodyPr wrap="square" lIns="0" tIns="0" rIns="0" bIns="0" rtlCol="0" anchor="ctr"/>
          <a:lstStyle/>
          <a:p>
            <a:pPr algn="r" indent="0" marL="0">
              <a:buNone/>
            </a:pPr>
            <a:r>
              <a:rPr lang="en-US" sz="1400" i="1" dirty="0">
                <a:solidFill>
                  <a:schemeClr val="accent2"/>
                </a:solidFill>
                <a:latin typeface="Calibri" pitchFamily="34" charset="0"/>
                <a:ea typeface="Calibri" pitchFamily="34" charset="-122"/>
                <a:cs typeface="Calibri" pitchFamily="34" charset="-120"/>
              </a:rPr>
              <a:t>Merel</a:t>
            </a:r>
            <a:endParaRPr lang="en-US" sz="1400" dirty="0"/>
          </a:p>
        </p:txBody>
      </p:sp>
      <p:sp>
        <p:nvSpPr>
          <p:cNvPr id="13" name="step number"/>
          <p:cNvSpPr/>
          <p:nvPr/>
        </p:nvSpPr>
        <p:spPr>
          <a:xfrm>
            <a:off x="548640" y="3200400"/>
            <a:ext cx="640080" cy="640080"/>
          </a:xfrm>
          <a:prstGeom prst="ellipse">
            <a:avLst/>
          </a:prstGeom>
          <a:solidFill>
            <a:schemeClr val="accent3"/>
          </a:solidFill>
          <a:ln w="12700">
            <a:solidFill>
              <a:schemeClr val="bg1"/>
            </a:solidFill>
            <a:prstDash val="solid"/>
          </a:ln>
        </p:spPr>
      </p:sp>
      <p:sp>
        <p:nvSpPr>
          <p:cNvPr id="14" name="Text 12"/>
          <p:cNvSpPr txBox="1"/>
          <p:nvPr/>
        </p:nvSpPr>
        <p:spPr>
          <a:xfrm>
            <a:off x="548640" y="32004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3</a:t>
            </a:r>
            <a:endParaRPr lang="en-US" sz="2200" dirty="0"/>
          </a:p>
        </p:txBody>
      </p:sp>
      <p:sp>
        <p:nvSpPr>
          <p:cNvPr id="15" name="Text 13"/>
          <p:cNvSpPr txBox="1"/>
          <p:nvPr/>
        </p:nvSpPr>
        <p:spPr>
          <a:xfrm>
            <a:off x="1417320" y="3200400"/>
            <a:ext cx="2011680" cy="640080"/>
          </a:xfrm>
          <a:prstGeom prst="rect">
            <a:avLst/>
          </a:prstGeom>
          <a:noFill/>
          <a:ln/>
        </p:spPr>
        <p:txBody>
          <a:bodyPr wrap="square" lIns="0" tIns="0" rIns="0" bIns="0" rtlCol="0" anchor="ctr"/>
          <a:lstStyle/>
          <a:p>
            <a:pPr indent="0" marL="0">
              <a:buNone/>
            </a:pPr>
            <a:r>
              <a:rPr lang="en-US" sz="2000" b="1" dirty="0">
                <a:solidFill>
                  <a:schemeClr val="bg1"/>
                </a:solidFill>
                <a:latin typeface="Calibri" pitchFamily="34" charset="0"/>
                <a:ea typeface="Calibri" pitchFamily="34" charset="-122"/>
                <a:cs typeface="Calibri" pitchFamily="34" charset="-120"/>
              </a:rPr>
              <a:t>Necklace</a:t>
            </a:r>
            <a:endParaRPr lang="en-US" sz="2000" dirty="0"/>
          </a:p>
        </p:txBody>
      </p:sp>
      <p:sp>
        <p:nvSpPr>
          <p:cNvPr id="16" name="Text 14"/>
          <p:cNvSpPr txBox="1"/>
          <p:nvPr/>
        </p:nvSpPr>
        <p:spPr>
          <a:xfrm>
            <a:off x="3429000" y="3200400"/>
            <a:ext cx="5669280" cy="640080"/>
          </a:xfrm>
          <a:prstGeom prst="rect">
            <a:avLst/>
          </a:prstGeom>
          <a:noFill/>
          <a:ln/>
        </p:spPr>
        <p:txBody>
          <a:bodyPr wrap="square" lIns="0" tIns="0" rIns="0" bIns="0" rtlCol="0" anchor="ctr"/>
          <a:lstStyle/>
          <a:p>
            <a:pPr indent="0" marL="0">
              <a:buNone/>
            </a:pPr>
            <a:r>
              <a:rPr lang="en-US" sz="1600" dirty="0">
                <a:solidFill>
                  <a:schemeClr val="accent6"/>
                </a:solidFill>
                <a:latin typeface="Calibri" pitchFamily="34" charset="0"/>
                <a:ea typeface="Calibri" pitchFamily="34" charset="-122"/>
                <a:cs typeface="Calibri" pitchFamily="34" charset="-120"/>
              </a:rPr>
              <a:t>"I slept four hours and have two assignments tomorrow"</a:t>
            </a:r>
            <a:endParaRPr lang="en-US" sz="1600" dirty="0"/>
          </a:p>
        </p:txBody>
      </p:sp>
      <p:sp>
        <p:nvSpPr>
          <p:cNvPr id="17" name="Text 15"/>
          <p:cNvSpPr txBox="1"/>
          <p:nvPr/>
        </p:nvSpPr>
        <p:spPr>
          <a:xfrm>
            <a:off x="9235440" y="3200400"/>
            <a:ext cx="2377440" cy="640080"/>
          </a:xfrm>
          <a:prstGeom prst="rect">
            <a:avLst/>
          </a:prstGeom>
          <a:noFill/>
          <a:ln/>
        </p:spPr>
        <p:txBody>
          <a:bodyPr wrap="square" lIns="0" tIns="0" rIns="0" bIns="0" rtlCol="0" anchor="ctr"/>
          <a:lstStyle/>
          <a:p>
            <a:pPr algn="r" indent="0" marL="0">
              <a:buNone/>
            </a:pPr>
            <a:r>
              <a:rPr lang="en-US" sz="1400" i="1" dirty="0">
                <a:solidFill>
                  <a:schemeClr val="accent2"/>
                </a:solidFill>
                <a:latin typeface="Calibri" pitchFamily="34" charset="0"/>
                <a:ea typeface="Calibri" pitchFamily="34" charset="-122"/>
                <a:cs typeface="Calibri" pitchFamily="34" charset="-120"/>
              </a:rPr>
              <a:t>Kishore + Pankaj</a:t>
            </a:r>
            <a:endParaRPr lang="en-US" sz="1400" dirty="0"/>
          </a:p>
        </p:txBody>
      </p:sp>
      <p:sp>
        <p:nvSpPr>
          <p:cNvPr id="18" name="step number"/>
          <p:cNvSpPr/>
          <p:nvPr/>
        </p:nvSpPr>
        <p:spPr>
          <a:xfrm>
            <a:off x="548640" y="4069080"/>
            <a:ext cx="640080" cy="640080"/>
          </a:xfrm>
          <a:prstGeom prst="ellipse">
            <a:avLst/>
          </a:prstGeom>
          <a:solidFill>
            <a:schemeClr val="accent1"/>
          </a:solidFill>
          <a:ln w="12700">
            <a:solidFill>
              <a:schemeClr val="bg1"/>
            </a:solidFill>
            <a:prstDash val="solid"/>
          </a:ln>
        </p:spPr>
      </p:sp>
      <p:sp>
        <p:nvSpPr>
          <p:cNvPr id="19" name="Text 17"/>
          <p:cNvSpPr txBox="1"/>
          <p:nvPr/>
        </p:nvSpPr>
        <p:spPr>
          <a:xfrm>
            <a:off x="548640" y="40690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4</a:t>
            </a:r>
            <a:endParaRPr lang="en-US" sz="2200" dirty="0"/>
          </a:p>
        </p:txBody>
      </p:sp>
      <p:sp>
        <p:nvSpPr>
          <p:cNvPr id="20" name="Text 18"/>
          <p:cNvSpPr txBox="1"/>
          <p:nvPr/>
        </p:nvSpPr>
        <p:spPr>
          <a:xfrm>
            <a:off x="1417320" y="4069080"/>
            <a:ext cx="2011680" cy="640080"/>
          </a:xfrm>
          <a:prstGeom prst="rect">
            <a:avLst/>
          </a:prstGeom>
          <a:noFill/>
          <a:ln/>
        </p:spPr>
        <p:txBody>
          <a:bodyPr wrap="square" lIns="0" tIns="0" rIns="0" bIns="0" rtlCol="0" anchor="ctr"/>
          <a:lstStyle/>
          <a:p>
            <a:pPr indent="0" marL="0">
              <a:buNone/>
            </a:pPr>
            <a:r>
              <a:rPr lang="en-US" sz="2000" b="1" dirty="0">
                <a:solidFill>
                  <a:schemeClr val="bg1"/>
                </a:solidFill>
                <a:latin typeface="Calibri" pitchFamily="34" charset="0"/>
                <a:ea typeface="Calibri" pitchFamily="34" charset="-122"/>
                <a:cs typeface="Calibri" pitchFamily="34" charset="-120"/>
              </a:rPr>
              <a:t>Play room</a:t>
            </a:r>
            <a:endParaRPr lang="en-US" sz="2000" dirty="0"/>
          </a:p>
        </p:txBody>
      </p:sp>
      <p:sp>
        <p:nvSpPr>
          <p:cNvPr id="21" name="Text 19"/>
          <p:cNvSpPr txBox="1"/>
          <p:nvPr/>
        </p:nvSpPr>
        <p:spPr>
          <a:xfrm>
            <a:off x="3429000" y="4069080"/>
            <a:ext cx="5669280" cy="640080"/>
          </a:xfrm>
          <a:prstGeom prst="rect">
            <a:avLst/>
          </a:prstGeom>
          <a:noFill/>
          <a:ln/>
        </p:spPr>
        <p:txBody>
          <a:bodyPr wrap="square" lIns="0" tIns="0" rIns="0" bIns="0" rtlCol="0" anchor="ctr"/>
          <a:lstStyle/>
          <a:p>
            <a:pPr indent="0" marL="0">
              <a:buNone/>
            </a:pPr>
            <a:r>
              <a:rPr lang="en-US" sz="1600" dirty="0">
                <a:solidFill>
                  <a:schemeClr val="accent6"/>
                </a:solidFill>
                <a:latin typeface="Calibri" pitchFamily="34" charset="0"/>
                <a:ea typeface="Calibri" pitchFamily="34" charset="-122"/>
                <a:cs typeface="Calibri" pitchFamily="34" charset="-120"/>
              </a:rPr>
              <a:t>Pop a few bubbles or shred a worry</a:t>
            </a:r>
            <a:endParaRPr lang="en-US" sz="1600" dirty="0"/>
          </a:p>
        </p:txBody>
      </p:sp>
      <p:sp>
        <p:nvSpPr>
          <p:cNvPr id="22" name="Text 20"/>
          <p:cNvSpPr txBox="1"/>
          <p:nvPr/>
        </p:nvSpPr>
        <p:spPr>
          <a:xfrm>
            <a:off x="9235440" y="4069080"/>
            <a:ext cx="2377440" cy="640080"/>
          </a:xfrm>
          <a:prstGeom prst="rect">
            <a:avLst/>
          </a:prstGeom>
          <a:noFill/>
          <a:ln/>
        </p:spPr>
        <p:txBody>
          <a:bodyPr wrap="square" lIns="0" tIns="0" rIns="0" bIns="0" rtlCol="0" anchor="ctr"/>
          <a:lstStyle/>
          <a:p>
            <a:pPr algn="r" indent="0" marL="0">
              <a:buNone/>
            </a:pPr>
            <a:r>
              <a:rPr lang="en-US" sz="1400" i="1" dirty="0">
                <a:solidFill>
                  <a:schemeClr val="accent2"/>
                </a:solidFill>
                <a:latin typeface="Calibri" pitchFamily="34" charset="0"/>
                <a:ea typeface="Calibri" pitchFamily="34" charset="-122"/>
                <a:cs typeface="Calibri" pitchFamily="34" charset="-120"/>
              </a:rPr>
              <a:t>Merel</a:t>
            </a:r>
            <a:endParaRPr lang="en-US" sz="1400" dirty="0"/>
          </a:p>
        </p:txBody>
      </p:sp>
      <p:sp>
        <p:nvSpPr>
          <p:cNvPr id="23" name="step number"/>
          <p:cNvSpPr/>
          <p:nvPr/>
        </p:nvSpPr>
        <p:spPr>
          <a:xfrm>
            <a:off x="548640" y="4937760"/>
            <a:ext cx="640080" cy="640080"/>
          </a:xfrm>
          <a:prstGeom prst="ellipse">
            <a:avLst/>
          </a:prstGeom>
          <a:solidFill>
            <a:schemeClr val="accent1"/>
          </a:solidFill>
          <a:ln w="12700">
            <a:solidFill>
              <a:schemeClr val="bg1"/>
            </a:solidFill>
            <a:prstDash val="solid"/>
          </a:ln>
        </p:spPr>
      </p:sp>
      <p:sp>
        <p:nvSpPr>
          <p:cNvPr id="24" name="Text 22"/>
          <p:cNvSpPr txBox="1"/>
          <p:nvPr/>
        </p:nvSpPr>
        <p:spPr>
          <a:xfrm>
            <a:off x="548640" y="49377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5</a:t>
            </a:r>
            <a:endParaRPr lang="en-US" sz="2200" dirty="0"/>
          </a:p>
        </p:txBody>
      </p:sp>
      <p:sp>
        <p:nvSpPr>
          <p:cNvPr id="25" name="Text 23"/>
          <p:cNvSpPr txBox="1"/>
          <p:nvPr/>
        </p:nvSpPr>
        <p:spPr>
          <a:xfrm>
            <a:off x="1417320" y="4937760"/>
            <a:ext cx="2011680" cy="640080"/>
          </a:xfrm>
          <a:prstGeom prst="rect">
            <a:avLst/>
          </a:prstGeom>
          <a:noFill/>
          <a:ln/>
        </p:spPr>
        <p:txBody>
          <a:bodyPr wrap="square" lIns="0" tIns="0" rIns="0" bIns="0" rtlCol="0" anchor="ctr"/>
          <a:lstStyle/>
          <a:p>
            <a:pPr indent="0" marL="0">
              <a:buNone/>
            </a:pPr>
            <a:r>
              <a:rPr lang="en-US" sz="2000" b="1" dirty="0">
                <a:solidFill>
                  <a:schemeClr val="bg1"/>
                </a:solidFill>
                <a:latin typeface="Calibri" pitchFamily="34" charset="0"/>
                <a:ea typeface="Calibri" pitchFamily="34" charset="-122"/>
                <a:cs typeface="Calibri" pitchFamily="34" charset="-120"/>
              </a:rPr>
              <a:t>Support</a:t>
            </a:r>
            <a:endParaRPr lang="en-US" sz="2000" dirty="0"/>
          </a:p>
        </p:txBody>
      </p:sp>
      <p:sp>
        <p:nvSpPr>
          <p:cNvPr id="26" name="Text 24"/>
          <p:cNvSpPr txBox="1"/>
          <p:nvPr/>
        </p:nvSpPr>
        <p:spPr>
          <a:xfrm>
            <a:off x="3429000" y="4937760"/>
            <a:ext cx="5669280" cy="640080"/>
          </a:xfrm>
          <a:prstGeom prst="rect">
            <a:avLst/>
          </a:prstGeom>
          <a:noFill/>
          <a:ln/>
        </p:spPr>
        <p:txBody>
          <a:bodyPr wrap="square" lIns="0" tIns="0" rIns="0" bIns="0" rtlCol="0" anchor="ctr"/>
          <a:lstStyle/>
          <a:p>
            <a:pPr indent="0" marL="0">
              <a:buNone/>
            </a:pPr>
            <a:r>
              <a:rPr lang="en-US" sz="1600" dirty="0">
                <a:solidFill>
                  <a:schemeClr val="accent6"/>
                </a:solidFill>
                <a:latin typeface="Calibri" pitchFamily="34" charset="0"/>
                <a:ea typeface="Calibri" pitchFamily="34" charset="-122"/>
                <a:cs typeface="Calibri" pitchFamily="34" charset="-120"/>
              </a:rPr>
              <a:t>The ladder and Tele-MANAS 14416</a:t>
            </a:r>
            <a:endParaRPr lang="en-US" sz="1600" dirty="0"/>
          </a:p>
        </p:txBody>
      </p:sp>
      <p:sp>
        <p:nvSpPr>
          <p:cNvPr id="27" name="Text 25"/>
          <p:cNvSpPr txBox="1"/>
          <p:nvPr/>
        </p:nvSpPr>
        <p:spPr>
          <a:xfrm>
            <a:off x="9235440" y="4937760"/>
            <a:ext cx="2377440" cy="640080"/>
          </a:xfrm>
          <a:prstGeom prst="rect">
            <a:avLst/>
          </a:prstGeom>
          <a:noFill/>
          <a:ln/>
        </p:spPr>
        <p:txBody>
          <a:bodyPr wrap="square" lIns="0" tIns="0" rIns="0" bIns="0" rtlCol="0" anchor="ctr"/>
          <a:lstStyle/>
          <a:p>
            <a:pPr algn="r" indent="0" marL="0">
              <a:buNone/>
            </a:pPr>
            <a:r>
              <a:rPr lang="en-US" sz="1400" i="1" dirty="0">
                <a:solidFill>
                  <a:schemeClr val="accent2"/>
                </a:solidFill>
                <a:latin typeface="Calibri" pitchFamily="34" charset="0"/>
                <a:ea typeface="Calibri" pitchFamily="34" charset="-122"/>
                <a:cs typeface="Calibri" pitchFamily="34" charset="-120"/>
              </a:rPr>
              <a:t>Merel</a:t>
            </a:r>
            <a:endParaRPr lang="en-US" sz="1400" dirty="0"/>
          </a:p>
        </p:txBody>
      </p:sp>
      <p:sp>
        <p:nvSpPr>
          <p:cNvPr id="28" name="Text 26"/>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300" i="1" dirty="0">
                <a:solidFill>
                  <a:schemeClr val="accent6"/>
                </a:solidFill>
                <a:latin typeface="Calibri" pitchFamily="34" charset="0"/>
                <a:ea typeface="Calibri" pitchFamily="34" charset="-122"/>
                <a:cs typeface="Calibri" pitchFamily="34" charset="-120"/>
              </a:rPr>
              <a:t>Backup if the necklace misbehaves: the same pipeline from the app's Hold-to-talk button.</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How we built it</a:t>
            </a:r>
            <a:endParaRPr lang="en-US" sz="3600" dirty="0"/>
          </a:p>
        </p:txBody>
      </p:sp>
      <p:sp>
        <p:nvSpPr>
          <p:cNvPr id="3" name="card"/>
          <p:cNvSpPr/>
          <p:nvPr/>
        </p:nvSpPr>
        <p:spPr>
          <a:xfrm>
            <a:off x="548640" y="1463040"/>
            <a:ext cx="3520440" cy="2423160"/>
          </a:xfrm>
          <a:prstGeom prst="roundRect">
            <a:avLst>
              <a:gd name="adj" fmla="val 6792"/>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4" name="icon circle"/>
          <p:cNvSpPr/>
          <p:nvPr/>
        </p:nvSpPr>
        <p:spPr>
          <a:xfrm>
            <a:off x="822960" y="1737360"/>
            <a:ext cx="685800" cy="68580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987552" y="1901952"/>
            <a:ext cx="356616" cy="356616"/>
          </a:xfrm>
          <a:prstGeom prst="rect">
            <a:avLst/>
          </a:prstGeom>
        </p:spPr>
      </p:pic>
      <p:sp>
        <p:nvSpPr>
          <p:cNvPr id="6" name="Text 3"/>
          <p:cNvSpPr txBox="1"/>
          <p:nvPr/>
        </p:nvSpPr>
        <p:spPr>
          <a:xfrm>
            <a:off x="1645920" y="1783080"/>
            <a:ext cx="2286000" cy="594360"/>
          </a:xfrm>
          <a:prstGeom prst="rect">
            <a:avLst/>
          </a:prstGeom>
          <a:noFill/>
          <a:ln/>
        </p:spPr>
        <p:txBody>
          <a:bodyPr wrap="square" lIns="0" tIns="0" rIns="0" bIns="0" rtlCol="0" anchor="ctr"/>
          <a:lstStyle/>
          <a:p>
            <a:pPr indent="0" marL="0">
              <a:buNone/>
            </a:pPr>
            <a:r>
              <a:rPr lang="en-US" sz="1900" b="1" dirty="0">
                <a:solidFill>
                  <a:schemeClr val="accent1"/>
                </a:solidFill>
                <a:latin typeface="Calibri" pitchFamily="34" charset="0"/>
                <a:ea typeface="Calibri" pitchFamily="34" charset="-122"/>
                <a:cs typeface="Calibri" pitchFamily="34" charset="-120"/>
              </a:rPr>
              <a:t>Web app</a:t>
            </a:r>
            <a:endParaRPr lang="en-US" sz="1900" dirty="0"/>
          </a:p>
        </p:txBody>
      </p:sp>
      <p:sp>
        <p:nvSpPr>
          <p:cNvPr id="7" name="Text 4"/>
          <p:cNvSpPr txBox="1"/>
          <p:nvPr/>
        </p:nvSpPr>
        <p:spPr>
          <a:xfrm>
            <a:off x="822960" y="2606040"/>
            <a:ext cx="301752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React · TypeScript · Vite · Tailwind · framer-motion · Recharts · Dexie (IndexedDB)</a:t>
            </a:r>
            <a:endParaRPr lang="en-US" sz="1300" dirty="0"/>
          </a:p>
        </p:txBody>
      </p:sp>
      <p:sp>
        <p:nvSpPr>
          <p:cNvPr id="8" name="card"/>
          <p:cNvSpPr/>
          <p:nvPr/>
        </p:nvSpPr>
        <p:spPr>
          <a:xfrm>
            <a:off x="4343400" y="1463040"/>
            <a:ext cx="3520440" cy="2423160"/>
          </a:xfrm>
          <a:prstGeom prst="roundRect">
            <a:avLst>
              <a:gd name="adj" fmla="val 6792"/>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9" name="icon circle"/>
          <p:cNvSpPr/>
          <p:nvPr/>
        </p:nvSpPr>
        <p:spPr>
          <a:xfrm>
            <a:off x="4617720" y="1737360"/>
            <a:ext cx="685800" cy="685800"/>
          </a:xfrm>
          <a:prstGeom prst="ellipse">
            <a:avLst/>
          </a:prstGeom>
          <a:solidFill>
            <a:schemeClr val="accent5"/>
          </a:solidFill>
          <a:ln w="12700">
            <a:solidFill>
              <a:schemeClr val="accent5"/>
            </a:solidFill>
            <a:prstDash val="solid"/>
          </a:ln>
        </p:spPr>
      </p:sp>
      <p:pic>
        <p:nvPicPr>
          <p:cNvPr id="10" name="icon" descr="preencoded.png">    </p:cNvPr>
          <p:cNvPicPr>
            <a:picLocks noChangeAspect="1"/>
          </p:cNvPicPr>
          <p:nvPr/>
        </p:nvPicPr>
        <p:blipFill>
          <a:blip r:embed="rId2"/>
          <a:stretch>
            <a:fillRect/>
          </a:stretch>
        </p:blipFill>
        <p:spPr>
          <a:xfrm>
            <a:off x="4782312" y="1901952"/>
            <a:ext cx="356616" cy="356616"/>
          </a:xfrm>
          <a:prstGeom prst="rect">
            <a:avLst/>
          </a:prstGeom>
        </p:spPr>
      </p:pic>
      <p:sp>
        <p:nvSpPr>
          <p:cNvPr id="11" name="Text 7"/>
          <p:cNvSpPr txBox="1"/>
          <p:nvPr/>
        </p:nvSpPr>
        <p:spPr>
          <a:xfrm>
            <a:off x="5440680" y="1783080"/>
            <a:ext cx="2286000" cy="594360"/>
          </a:xfrm>
          <a:prstGeom prst="rect">
            <a:avLst/>
          </a:prstGeom>
          <a:noFill/>
          <a:ln/>
        </p:spPr>
        <p:txBody>
          <a:bodyPr wrap="square" lIns="0" tIns="0" rIns="0" bIns="0" rtlCol="0" anchor="ctr"/>
          <a:lstStyle/>
          <a:p>
            <a:pPr indent="0" marL="0">
              <a:buNone/>
            </a:pPr>
            <a:r>
              <a:rPr lang="en-US" sz="1900" b="1" dirty="0">
                <a:solidFill>
                  <a:schemeClr val="accent5"/>
                </a:solidFill>
                <a:latin typeface="Calibri" pitchFamily="34" charset="0"/>
                <a:ea typeface="Calibri" pitchFamily="34" charset="-122"/>
                <a:cs typeface="Calibri" pitchFamily="34" charset="-120"/>
              </a:rPr>
              <a:t>Laptop hub</a:t>
            </a:r>
            <a:endParaRPr lang="en-US" sz="1900" dirty="0"/>
          </a:p>
        </p:txBody>
      </p:sp>
      <p:sp>
        <p:nvSpPr>
          <p:cNvPr id="12" name="Text 8"/>
          <p:cNvSpPr txBox="1"/>
          <p:nvPr/>
        </p:nvSpPr>
        <p:spPr>
          <a:xfrm>
            <a:off x="4617720" y="2606040"/>
            <a:ext cx="301752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Node.js · Groq Whisper large-v3-turbo · GPT-OSS 20B · Edge neural voice (en-IN) · Server-Sent Events</a:t>
            </a:r>
            <a:endParaRPr lang="en-US" sz="1300" dirty="0"/>
          </a:p>
        </p:txBody>
      </p:sp>
      <p:sp>
        <p:nvSpPr>
          <p:cNvPr id="13" name="card"/>
          <p:cNvSpPr/>
          <p:nvPr/>
        </p:nvSpPr>
        <p:spPr>
          <a:xfrm>
            <a:off x="8138160" y="1463040"/>
            <a:ext cx="3520440" cy="2423160"/>
          </a:xfrm>
          <a:prstGeom prst="roundRect">
            <a:avLst>
              <a:gd name="adj" fmla="val 6792"/>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14" name="icon circle"/>
          <p:cNvSpPr/>
          <p:nvPr/>
        </p:nvSpPr>
        <p:spPr>
          <a:xfrm>
            <a:off x="8412480" y="1737360"/>
            <a:ext cx="685800" cy="685800"/>
          </a:xfrm>
          <a:prstGeom prst="ellipse">
            <a:avLst/>
          </a:prstGeom>
          <a:solidFill>
            <a:schemeClr val="accent3"/>
          </a:solidFill>
          <a:ln w="12700">
            <a:solidFill>
              <a:schemeClr val="accent3"/>
            </a:solidFill>
            <a:prstDash val="solid"/>
          </a:ln>
        </p:spPr>
      </p:sp>
      <p:pic>
        <p:nvPicPr>
          <p:cNvPr id="15" name="icon" descr="preencoded.png">    </p:cNvPr>
          <p:cNvPicPr>
            <a:picLocks noChangeAspect="1"/>
          </p:cNvPicPr>
          <p:nvPr/>
        </p:nvPicPr>
        <p:blipFill>
          <a:blip r:embed="rId3"/>
          <a:stretch>
            <a:fillRect/>
          </a:stretch>
        </p:blipFill>
        <p:spPr>
          <a:xfrm>
            <a:off x="8577072" y="1901952"/>
            <a:ext cx="356616" cy="356616"/>
          </a:xfrm>
          <a:prstGeom prst="rect">
            <a:avLst/>
          </a:prstGeom>
        </p:spPr>
      </p:pic>
      <p:sp>
        <p:nvSpPr>
          <p:cNvPr id="16" name="Text 11"/>
          <p:cNvSpPr txBox="1"/>
          <p:nvPr/>
        </p:nvSpPr>
        <p:spPr>
          <a:xfrm>
            <a:off x="9235440" y="1783080"/>
            <a:ext cx="2286000" cy="594360"/>
          </a:xfrm>
          <a:prstGeom prst="rect">
            <a:avLst/>
          </a:prstGeom>
          <a:noFill/>
          <a:ln/>
        </p:spPr>
        <p:txBody>
          <a:bodyPr wrap="square" lIns="0" tIns="0" rIns="0" bIns="0" rtlCol="0" anchor="ctr"/>
          <a:lstStyle/>
          <a:p>
            <a:pPr indent="0" marL="0">
              <a:buNone/>
            </a:pPr>
            <a:r>
              <a:rPr lang="en-US" sz="1900" b="1" dirty="0">
                <a:solidFill>
                  <a:schemeClr val="accent3"/>
                </a:solidFill>
                <a:latin typeface="Calibri" pitchFamily="34" charset="0"/>
                <a:ea typeface="Calibri" pitchFamily="34" charset="-122"/>
                <a:cs typeface="Calibri" pitchFamily="34" charset="-120"/>
              </a:rPr>
              <a:t>Necklace firmware</a:t>
            </a:r>
            <a:endParaRPr lang="en-US" sz="1900" dirty="0"/>
          </a:p>
        </p:txBody>
      </p:sp>
      <p:sp>
        <p:nvSpPr>
          <p:cNvPr id="17" name="Text 12"/>
          <p:cNvSpPr txBox="1"/>
          <p:nvPr/>
        </p:nvSpPr>
        <p:spPr>
          <a:xfrm>
            <a:off x="8412480" y="2606040"/>
            <a:ext cx="3017520" cy="11887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Arduino C++ on ESP32 · 2 I2S channels · chunked HTTP streaming · UDP auto-discovery</a:t>
            </a:r>
            <a:endParaRPr lang="en-US" sz="1300" dirty="0"/>
          </a:p>
        </p:txBody>
      </p:sp>
      <p:sp>
        <p:nvSpPr>
          <p:cNvPr id="18" name="Text 13"/>
          <p:cNvSpPr txBox="1"/>
          <p:nvPr/>
        </p:nvSpPr>
        <p:spPr>
          <a:xfrm>
            <a:off x="548640" y="4206240"/>
            <a:ext cx="265176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5</a:t>
            </a:r>
            <a:endParaRPr lang="en-US" sz="4800" dirty="0"/>
          </a:p>
        </p:txBody>
      </p:sp>
      <p:sp>
        <p:nvSpPr>
          <p:cNvPr id="19" name="Text 14"/>
          <p:cNvSpPr txBox="1"/>
          <p:nvPr/>
        </p:nvSpPr>
        <p:spPr>
          <a:xfrm>
            <a:off x="548640" y="5120640"/>
            <a:ext cx="2651760" cy="4572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signals with proof</a:t>
            </a:r>
            <a:endParaRPr lang="en-US" sz="1500" dirty="0"/>
          </a:p>
        </p:txBody>
      </p:sp>
      <p:sp>
        <p:nvSpPr>
          <p:cNvPr id="20" name="Text 15"/>
          <p:cNvSpPr txBox="1"/>
          <p:nvPr/>
        </p:nvSpPr>
        <p:spPr>
          <a:xfrm>
            <a:off x="3383280" y="4206240"/>
            <a:ext cx="265176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&lt;60 s</a:t>
            </a:r>
            <a:endParaRPr lang="en-US" sz="4800" dirty="0"/>
          </a:p>
        </p:txBody>
      </p:sp>
      <p:sp>
        <p:nvSpPr>
          <p:cNvPr id="21" name="Text 16"/>
          <p:cNvSpPr txBox="1"/>
          <p:nvPr/>
        </p:nvSpPr>
        <p:spPr>
          <a:xfrm>
            <a:off x="3383280" y="5120640"/>
            <a:ext cx="2651760" cy="4572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daily check-in</a:t>
            </a:r>
            <a:endParaRPr lang="en-US" sz="1500" dirty="0"/>
          </a:p>
        </p:txBody>
      </p:sp>
      <p:sp>
        <p:nvSpPr>
          <p:cNvPr id="22" name="Text 17"/>
          <p:cNvSpPr txBox="1"/>
          <p:nvPr/>
        </p:nvSpPr>
        <p:spPr>
          <a:xfrm>
            <a:off x="6217920" y="4206240"/>
            <a:ext cx="265176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0</a:t>
            </a:r>
            <a:endParaRPr lang="en-US" sz="4800" dirty="0"/>
          </a:p>
        </p:txBody>
      </p:sp>
      <p:sp>
        <p:nvSpPr>
          <p:cNvPr id="23" name="Text 18"/>
          <p:cNvSpPr txBox="1"/>
          <p:nvPr/>
        </p:nvSpPr>
        <p:spPr>
          <a:xfrm>
            <a:off x="6217920" y="5120640"/>
            <a:ext cx="2651760" cy="4572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personal records on a server</a:t>
            </a:r>
            <a:endParaRPr lang="en-US" sz="1500" dirty="0"/>
          </a:p>
        </p:txBody>
      </p:sp>
      <p:sp>
        <p:nvSpPr>
          <p:cNvPr id="24" name="Text 19"/>
          <p:cNvSpPr txBox="1"/>
          <p:nvPr/>
        </p:nvSpPr>
        <p:spPr>
          <a:xfrm>
            <a:off x="9052560" y="4206240"/>
            <a:ext cx="2651760" cy="91440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3</a:t>
            </a:r>
            <a:endParaRPr lang="en-US" sz="4800" dirty="0"/>
          </a:p>
        </p:txBody>
      </p:sp>
      <p:sp>
        <p:nvSpPr>
          <p:cNvPr id="25" name="Text 20"/>
          <p:cNvSpPr txBox="1"/>
          <p:nvPr/>
        </p:nvSpPr>
        <p:spPr>
          <a:xfrm>
            <a:off x="9052560" y="5120640"/>
            <a:ext cx="2651760" cy="4572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people, 3 GitHub accounts</a:t>
            </a:r>
            <a:endParaRPr lang="en-US" sz="1500" dirty="0"/>
          </a:p>
        </p:txBody>
      </p:sp>
      <p:sp>
        <p:nvSpPr>
          <p:cNvPr id="26" name="Text 21"/>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300" i="1" dirty="0">
                <a:solidFill>
                  <a:srgbClr val="000000"/>
                </a:solidFill>
                <a:latin typeface="Calibri" pitchFamily="34" charset="0"/>
                <a:ea typeface="Calibri" pitchFamily="34" charset="-122"/>
                <a:cs typeface="Calibri" pitchFamily="34" charset="-120"/>
              </a:rPr>
              <a:t>Signal engine is plain TypeScript with unit tests. Libraries, APIs and AI coding assistants (Claude, ChatGPT) are disclosed in our README.</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Three people, clear roles, one repo</a:t>
            </a:r>
            <a:endParaRPr lang="en-US" sz="3600" dirty="0"/>
          </a:p>
        </p:txBody>
      </p:sp>
      <p:sp>
        <p:nvSpPr>
          <p:cNvPr id="3" name="card"/>
          <p:cNvSpPr/>
          <p:nvPr/>
        </p:nvSpPr>
        <p:spPr>
          <a:xfrm>
            <a:off x="548640" y="1463040"/>
            <a:ext cx="3520440" cy="2743200"/>
          </a:xfrm>
          <a:prstGeom prst="roundRect">
            <a:avLst>
              <a:gd name="adj" fmla="val 6000"/>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4" name="Text 2"/>
          <p:cNvSpPr txBox="1"/>
          <p:nvPr/>
        </p:nvSpPr>
        <p:spPr>
          <a:xfrm>
            <a:off x="822960" y="1645920"/>
            <a:ext cx="301752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K S Pankaj</a:t>
            </a:r>
            <a:endParaRPr lang="en-US" sz="2000" dirty="0"/>
          </a:p>
        </p:txBody>
      </p:sp>
      <p:sp>
        <p:nvSpPr>
          <p:cNvPr id="5" name="Text 3"/>
          <p:cNvSpPr txBox="1"/>
          <p:nvPr/>
        </p:nvSpPr>
        <p:spPr>
          <a:xfrm>
            <a:off x="822960" y="2103120"/>
            <a:ext cx="3017520" cy="365760"/>
          </a:xfrm>
          <a:prstGeom prst="rect">
            <a:avLst/>
          </a:prstGeom>
          <a:noFill/>
          <a:ln/>
        </p:spPr>
        <p:txBody>
          <a:bodyPr wrap="square" lIns="0" tIns="0" rIns="0" bIns="0" rtlCol="0" anchor="t"/>
          <a:lstStyle/>
          <a:p>
            <a:pPr indent="0" marL="0">
              <a:buNone/>
            </a:pPr>
            <a:r>
              <a:rPr lang="en-US" sz="1400" i="1" dirty="0">
                <a:solidFill>
                  <a:srgbClr val="000000"/>
                </a:solidFill>
                <a:latin typeface="Calibri" pitchFamily="34" charset="0"/>
                <a:ea typeface="Calibri" pitchFamily="34" charset="-122"/>
                <a:cs typeface="Calibri" pitchFamily="34" charset="-120"/>
              </a:rPr>
              <a:t>Tech lead + IoT</a:t>
            </a:r>
            <a:endParaRPr lang="en-US" sz="1400" dirty="0"/>
          </a:p>
        </p:txBody>
      </p:sp>
      <p:sp>
        <p:nvSpPr>
          <p:cNvPr id="6" name="Text 4"/>
          <p:cNvSpPr txBox="1"/>
          <p:nvPr/>
        </p:nvSpPr>
        <p:spPr>
          <a:xfrm>
            <a:off x="822960" y="2606040"/>
            <a:ext cx="306324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Signal engine and tests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Laptop hub (speech, AI, voice)</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Necklace firmware</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Integration</a:t>
            </a:r>
            <a:endParaRPr lang="en-US" sz="1500" dirty="0"/>
          </a:p>
        </p:txBody>
      </p:sp>
      <p:sp>
        <p:nvSpPr>
          <p:cNvPr id="7" name="card"/>
          <p:cNvSpPr/>
          <p:nvPr/>
        </p:nvSpPr>
        <p:spPr>
          <a:xfrm>
            <a:off x="4297680" y="1463040"/>
            <a:ext cx="3520440" cy="2743200"/>
          </a:xfrm>
          <a:prstGeom prst="roundRect">
            <a:avLst>
              <a:gd name="adj" fmla="val 6000"/>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8" name="Text 6"/>
          <p:cNvSpPr txBox="1"/>
          <p:nvPr/>
        </p:nvSpPr>
        <p:spPr>
          <a:xfrm>
            <a:off x="4572000" y="1645920"/>
            <a:ext cx="3017520" cy="45720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Merel Riha Dsouza</a:t>
            </a:r>
            <a:endParaRPr lang="en-US" sz="2000" dirty="0"/>
          </a:p>
        </p:txBody>
      </p:sp>
      <p:sp>
        <p:nvSpPr>
          <p:cNvPr id="9" name="Text 7"/>
          <p:cNvSpPr txBox="1"/>
          <p:nvPr/>
        </p:nvSpPr>
        <p:spPr>
          <a:xfrm>
            <a:off x="4572000" y="2103120"/>
            <a:ext cx="3017520" cy="365760"/>
          </a:xfrm>
          <a:prstGeom prst="rect">
            <a:avLst/>
          </a:prstGeom>
          <a:noFill/>
          <a:ln/>
        </p:spPr>
        <p:txBody>
          <a:bodyPr wrap="square" lIns="0" tIns="0" rIns="0" bIns="0" rtlCol="0" anchor="t"/>
          <a:lstStyle/>
          <a:p>
            <a:pPr indent="0" marL="0">
              <a:buNone/>
            </a:pPr>
            <a:r>
              <a:rPr lang="en-US" sz="1400" i="1" dirty="0">
                <a:solidFill>
                  <a:srgbClr val="000000"/>
                </a:solidFill>
                <a:latin typeface="Calibri" pitchFamily="34" charset="0"/>
                <a:ea typeface="Calibri" pitchFamily="34" charset="-122"/>
                <a:cs typeface="Calibri" pitchFamily="34" charset="-120"/>
              </a:rPr>
              <a:t>Product, research + presenter</a:t>
            </a:r>
            <a:endParaRPr lang="en-US" sz="1400" dirty="0"/>
          </a:p>
        </p:txBody>
      </p:sp>
      <p:sp>
        <p:nvSpPr>
          <p:cNvPr id="10" name="Text 8"/>
          <p:cNvSpPr txBox="1"/>
          <p:nvPr/>
        </p:nvSpPr>
        <p:spPr>
          <a:xfrm>
            <a:off x="4572000" y="2606040"/>
            <a:ext cx="306324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Student interviews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Every word in the app</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Play room: 3 calm games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Support screen, deck, demo video</a:t>
            </a:r>
            <a:endParaRPr lang="en-US" sz="1500" dirty="0"/>
          </a:p>
        </p:txBody>
      </p:sp>
      <p:sp>
        <p:nvSpPr>
          <p:cNvPr id="11" name="card"/>
          <p:cNvSpPr/>
          <p:nvPr/>
        </p:nvSpPr>
        <p:spPr>
          <a:xfrm>
            <a:off x="8046720" y="1463040"/>
            <a:ext cx="3520440" cy="2743200"/>
          </a:xfrm>
          <a:prstGeom prst="roundRect">
            <a:avLst>
              <a:gd name="adj" fmla="val 6000"/>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12" name="Text 10"/>
          <p:cNvSpPr txBox="1"/>
          <p:nvPr/>
        </p:nvSpPr>
        <p:spPr>
          <a:xfrm>
            <a:off x="8321040" y="1645920"/>
            <a:ext cx="3017520" cy="457200"/>
          </a:xfrm>
          <a:prstGeom prst="rect">
            <a:avLst/>
          </a:prstGeom>
          <a:noFill/>
          <a:ln/>
        </p:spPr>
        <p:txBody>
          <a:bodyPr wrap="square" lIns="0" tIns="0" rIns="0" bIns="0" rtlCol="0" anchor="t"/>
          <a:lstStyle/>
          <a:p>
            <a:pPr indent="0" marL="0">
              <a:buNone/>
            </a:pPr>
            <a:r>
              <a:rPr lang="en-US" sz="2000" b="1" dirty="0">
                <a:solidFill>
                  <a:schemeClr val="accent5"/>
                </a:solidFill>
                <a:latin typeface="Cambria" pitchFamily="34" charset="0"/>
                <a:ea typeface="Cambria" pitchFamily="34" charset="-122"/>
                <a:cs typeface="Cambria" pitchFamily="34" charset="-120"/>
              </a:rPr>
              <a:t>A B Kishore Krishna</a:t>
            </a:r>
            <a:endParaRPr lang="en-US" sz="2000" dirty="0"/>
          </a:p>
        </p:txBody>
      </p:sp>
      <p:sp>
        <p:nvSpPr>
          <p:cNvPr id="13" name="Text 11"/>
          <p:cNvSpPr txBox="1"/>
          <p:nvPr/>
        </p:nvSpPr>
        <p:spPr>
          <a:xfrm>
            <a:off x="8321040" y="2103120"/>
            <a:ext cx="3017520" cy="365760"/>
          </a:xfrm>
          <a:prstGeom prst="rect">
            <a:avLst/>
          </a:prstGeom>
          <a:noFill/>
          <a:ln/>
        </p:spPr>
        <p:txBody>
          <a:bodyPr wrap="square" lIns="0" tIns="0" rIns="0" bIns="0" rtlCol="0" anchor="t"/>
          <a:lstStyle/>
          <a:p>
            <a:pPr indent="0" marL="0">
              <a:buNone/>
            </a:pPr>
            <a:r>
              <a:rPr lang="en-US" sz="1400" i="1" dirty="0">
                <a:solidFill>
                  <a:srgbClr val="000000"/>
                </a:solidFill>
                <a:latin typeface="Calibri" pitchFamily="34" charset="0"/>
                <a:ea typeface="Calibri" pitchFamily="34" charset="-122"/>
                <a:cs typeface="Calibri" pitchFamily="34" charset="-120"/>
              </a:rPr>
              <a:t>Design, UI + hardware</a:t>
            </a:r>
            <a:endParaRPr lang="en-US" sz="1400" dirty="0"/>
          </a:p>
        </p:txBody>
      </p:sp>
      <p:sp>
        <p:nvSpPr>
          <p:cNvPr id="14" name="Text 12"/>
          <p:cNvSpPr txBox="1"/>
          <p:nvPr/>
        </p:nvSpPr>
        <p:spPr>
          <a:xfrm>
            <a:off x="8321040" y="2606040"/>
            <a:ext cx="306324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Colours and UI components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Check-in and Breathe screens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Wiring and hardware tests</a:t>
            </a:r>
            <a:endParaRPr lang="en-US" sz="1500" dirty="0"/>
          </a:p>
          <a:p>
            <a:pPr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The pendant case</a:t>
            </a:r>
            <a:endParaRPr lang="en-US" sz="1500" dirty="0"/>
          </a:p>
        </p:txBody>
      </p:sp>
      <p:sp>
        <p:nvSpPr>
          <p:cNvPr id="15" name="icon circle"/>
          <p:cNvSpPr/>
          <p:nvPr/>
        </p:nvSpPr>
        <p:spPr>
          <a:xfrm>
            <a:off x="548640" y="4663440"/>
            <a:ext cx="594360" cy="594360"/>
          </a:xfrm>
          <a:prstGeom prst="ellipse">
            <a:avLst/>
          </a:prstGeom>
          <a:solidFill>
            <a:schemeClr val="tx2"/>
          </a:solidFill>
          <a:ln w="12700">
            <a:solidFill>
              <a:schemeClr val="tx2"/>
            </a:solidFill>
            <a:prstDash val="solid"/>
          </a:ln>
        </p:spPr>
      </p:sp>
      <p:pic>
        <p:nvPicPr>
          <p:cNvPr id="16" name="icon" descr="preencoded.png">    </p:cNvPr>
          <p:cNvPicPr>
            <a:picLocks noChangeAspect="1"/>
          </p:cNvPicPr>
          <p:nvPr/>
        </p:nvPicPr>
        <p:blipFill>
          <a:blip r:embed="rId1"/>
          <a:stretch>
            <a:fillRect/>
          </a:stretch>
        </p:blipFill>
        <p:spPr>
          <a:xfrm>
            <a:off x="691286" y="4806086"/>
            <a:ext cx="309067" cy="309067"/>
          </a:xfrm>
          <a:prstGeom prst="rect">
            <a:avLst/>
          </a:prstGeom>
        </p:spPr>
      </p:pic>
      <p:sp>
        <p:nvSpPr>
          <p:cNvPr id="17" name="Text 14"/>
          <p:cNvSpPr txBox="1"/>
          <p:nvPr/>
        </p:nvSpPr>
        <p:spPr>
          <a:xfrm>
            <a:off x="1325880" y="4663440"/>
            <a:ext cx="2743200" cy="5943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A branch and pull requests per person</a:t>
            </a:r>
            <a:endParaRPr lang="en-US" sz="1500" dirty="0"/>
          </a:p>
        </p:txBody>
      </p:sp>
      <p:sp>
        <p:nvSpPr>
          <p:cNvPr id="18" name="icon circle"/>
          <p:cNvSpPr/>
          <p:nvPr/>
        </p:nvSpPr>
        <p:spPr>
          <a:xfrm>
            <a:off x="4297680" y="4663440"/>
            <a:ext cx="594360" cy="594360"/>
          </a:xfrm>
          <a:prstGeom prst="ellipse">
            <a:avLst/>
          </a:prstGeom>
          <a:solidFill>
            <a:schemeClr val="tx2"/>
          </a:solidFill>
          <a:ln w="12700">
            <a:solidFill>
              <a:schemeClr val="tx2"/>
            </a:solidFill>
            <a:prstDash val="solid"/>
          </a:ln>
        </p:spPr>
      </p:sp>
      <p:pic>
        <p:nvPicPr>
          <p:cNvPr id="19" name="icon" descr="preencoded.png">    </p:cNvPr>
          <p:cNvPicPr>
            <a:picLocks noChangeAspect="1"/>
          </p:cNvPicPr>
          <p:nvPr/>
        </p:nvPicPr>
        <p:blipFill>
          <a:blip r:embed="rId2"/>
          <a:stretch>
            <a:fillRect/>
          </a:stretch>
        </p:blipFill>
        <p:spPr>
          <a:xfrm>
            <a:off x="4440326" y="4806086"/>
            <a:ext cx="309067" cy="309067"/>
          </a:xfrm>
          <a:prstGeom prst="rect">
            <a:avLst/>
          </a:prstGeom>
        </p:spPr>
      </p:pic>
      <p:sp>
        <p:nvSpPr>
          <p:cNvPr id="20" name="Text 16"/>
          <p:cNvSpPr txBox="1"/>
          <p:nvPr/>
        </p:nvSpPr>
        <p:spPr>
          <a:xfrm>
            <a:off x="5074920" y="4663440"/>
            <a:ext cx="2743200" cy="5943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10-minute sync every 3 hours</a:t>
            </a:r>
            <a:endParaRPr lang="en-US" sz="1500" dirty="0"/>
          </a:p>
        </p:txBody>
      </p:sp>
      <p:sp>
        <p:nvSpPr>
          <p:cNvPr id="21" name="icon circle"/>
          <p:cNvSpPr/>
          <p:nvPr/>
        </p:nvSpPr>
        <p:spPr>
          <a:xfrm>
            <a:off x="8046720" y="4663440"/>
            <a:ext cx="594360" cy="594360"/>
          </a:xfrm>
          <a:prstGeom prst="ellipse">
            <a:avLst/>
          </a:prstGeom>
          <a:solidFill>
            <a:schemeClr val="tx2"/>
          </a:solidFill>
          <a:ln w="12700">
            <a:solidFill>
              <a:schemeClr val="tx2"/>
            </a:solidFill>
            <a:prstDash val="solid"/>
          </a:ln>
        </p:spPr>
      </p:sp>
      <p:pic>
        <p:nvPicPr>
          <p:cNvPr id="22" name="icon" descr="preencoded.png">    </p:cNvPr>
          <p:cNvPicPr>
            <a:picLocks noChangeAspect="1"/>
          </p:cNvPicPr>
          <p:nvPr/>
        </p:nvPicPr>
        <p:blipFill>
          <a:blip r:embed="rId3"/>
          <a:stretch>
            <a:fillRect/>
          </a:stretch>
        </p:blipFill>
        <p:spPr>
          <a:xfrm>
            <a:off x="8189366" y="4806086"/>
            <a:ext cx="309067" cy="309067"/>
          </a:xfrm>
          <a:prstGeom prst="rect">
            <a:avLst/>
          </a:prstGeom>
        </p:spPr>
      </p:pic>
      <p:sp>
        <p:nvSpPr>
          <p:cNvPr id="23" name="Text 18"/>
          <p:cNvSpPr txBox="1"/>
          <p:nvPr/>
        </p:nvSpPr>
        <p:spPr>
          <a:xfrm>
            <a:off x="8823960" y="4663440"/>
            <a:ext cx="2743200" cy="5943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Written plan with owners and times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Impact, and what comes next</a:t>
            </a:r>
            <a:endParaRPr lang="en-US" sz="3600" dirty="0"/>
          </a:p>
        </p:txBody>
      </p:sp>
      <p:sp>
        <p:nvSpPr>
          <p:cNvPr id="3" name="card"/>
          <p:cNvSpPr/>
          <p:nvPr/>
        </p:nvSpPr>
        <p:spPr>
          <a:xfrm>
            <a:off x="548640" y="1463040"/>
            <a:ext cx="5120640" cy="4663440"/>
          </a:xfrm>
          <a:prstGeom prst="roundRect">
            <a:avLst>
              <a:gd name="adj" fmla="val 3529"/>
            </a:avLst>
          </a:prstGeom>
          <a:solidFill>
            <a:schemeClr val="bg1"/>
          </a:solidFill>
          <a:ln w="12700">
            <a:solidFill>
              <a:schemeClr val="bg1"/>
            </a:solidFill>
            <a:prstDash val="solid"/>
          </a:ln>
          <a:effectLst>
            <a:outerShdw sx="100000" sy="100000" kx="0" ky="0" algn="bl" rotWithShape="0" blurRad="101600" dist="25400" dir="5400000">
              <a:srgbClr val="1F2459">
                <a:alpha val="12000"/>
              </a:srgbClr>
            </a:outerShdw>
          </a:effectLst>
        </p:spPr>
      </p:sp>
      <p:sp>
        <p:nvSpPr>
          <p:cNvPr id="4" name="Text 2"/>
          <p:cNvSpPr txBox="1"/>
          <p:nvPr/>
        </p:nvSpPr>
        <p:spPr>
          <a:xfrm>
            <a:off x="868680" y="1691640"/>
            <a:ext cx="4572000" cy="274320"/>
          </a:xfrm>
          <a:prstGeom prst="rect">
            <a:avLst/>
          </a:prstGeom>
          <a:noFill/>
          <a:ln/>
        </p:spPr>
        <p:txBody>
          <a:bodyPr wrap="square" lIns="0" tIns="0" rIns="0" bIns="0" rtlCol="0" anchor="t"/>
          <a:lstStyle/>
          <a:p>
            <a:pPr indent="0" marL="0">
              <a:buNone/>
            </a:pPr>
            <a:r>
              <a:rPr lang="en-US" sz="1200" b="1" spc="150" kern="0" dirty="0">
                <a:solidFill>
                  <a:srgbClr val="000000"/>
                </a:solidFill>
                <a:latin typeface="Calibri" pitchFamily="34" charset="0"/>
                <a:ea typeface="Calibri" pitchFamily="34" charset="-122"/>
                <a:cs typeface="Calibri" pitchFamily="34" charset="-120"/>
              </a:rPr>
              <a:t>WHY IT MATTERS</a:t>
            </a:r>
            <a:endParaRPr lang="en-US" sz="1200" dirty="0"/>
          </a:p>
        </p:txBody>
      </p:sp>
      <p:sp>
        <p:nvSpPr>
          <p:cNvPr id="5" name="Text 3"/>
          <p:cNvSpPr txBox="1"/>
          <p:nvPr/>
        </p:nvSpPr>
        <p:spPr>
          <a:xfrm>
            <a:off x="868680" y="2103120"/>
            <a:ext cx="4572000" cy="38404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Students notice the drift weeks earlier, in their own numbers.</a:t>
            </a:r>
            <a:endParaRPr lang="en-US" sz="1600" dirty="0"/>
          </a:p>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Support becomes a ladder of small steps, not a single scary jump.</a:t>
            </a:r>
            <a:endParaRPr lang="en-US" sz="1600" dirty="0"/>
          </a:p>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A college can share one link at orientation: free, private, no install.</a:t>
            </a:r>
            <a:endParaRPr lang="en-US" sz="1600" dirty="0"/>
          </a:p>
          <a:p>
            <a:pPr marL="342900" indent="-342900">
              <a:spcAft>
                <a:spcPts val="1200"/>
              </a:spcAft>
              <a:buSzPct val="100000"/>
              <a:buChar char="•"/>
            </a:pPr>
            <a:r>
              <a:rPr lang="en-US" sz="1600" dirty="0">
                <a:solidFill>
                  <a:schemeClr val="tx1"/>
                </a:solidFill>
                <a:latin typeface="Calibri" pitchFamily="34" charset="0"/>
                <a:ea typeface="Calibri" pitchFamily="34" charset="-122"/>
                <a:cs typeface="Calibri" pitchFamily="34" charset="-120"/>
              </a:rPr>
              <a:t>We'd measure success by students reaching out earlier, with opt-in surveys.</a:t>
            </a:r>
            <a:endParaRPr lang="en-US" sz="1600" dirty="0"/>
          </a:p>
        </p:txBody>
      </p:sp>
      <p:sp>
        <p:nvSpPr>
          <p:cNvPr id="6" name="Text 4"/>
          <p:cNvSpPr txBox="1"/>
          <p:nvPr/>
        </p:nvSpPr>
        <p:spPr>
          <a:xfrm>
            <a:off x="6035040" y="1508760"/>
            <a:ext cx="4572000" cy="274320"/>
          </a:xfrm>
          <a:prstGeom prst="rect">
            <a:avLst/>
          </a:prstGeom>
          <a:noFill/>
          <a:ln/>
        </p:spPr>
        <p:txBody>
          <a:bodyPr wrap="square" lIns="0" tIns="0" rIns="0" bIns="0" rtlCol="0" anchor="t"/>
          <a:lstStyle/>
          <a:p>
            <a:pPr indent="0" marL="0">
              <a:buNone/>
            </a:pPr>
            <a:r>
              <a:rPr lang="en-US" sz="1200" b="1" spc="150" kern="0" dirty="0">
                <a:solidFill>
                  <a:srgbClr val="000000"/>
                </a:solidFill>
                <a:latin typeface="Calibri" pitchFamily="34" charset="0"/>
                <a:ea typeface="Calibri" pitchFamily="34" charset="-122"/>
                <a:cs typeface="Calibri" pitchFamily="34" charset="-120"/>
              </a:rPr>
              <a:t>NEXT STEPS</a:t>
            </a:r>
            <a:endParaRPr lang="en-US" sz="1200" dirty="0"/>
          </a:p>
        </p:txBody>
      </p:sp>
      <p:sp>
        <p:nvSpPr>
          <p:cNvPr id="7" name="icon circle"/>
          <p:cNvSpPr/>
          <p:nvPr/>
        </p:nvSpPr>
        <p:spPr>
          <a:xfrm>
            <a:off x="6035040" y="1920240"/>
            <a:ext cx="594360" cy="594360"/>
          </a:xfrm>
          <a:prstGeom prst="ellipse">
            <a:avLst/>
          </a:prstGeom>
          <a:solidFill>
            <a:schemeClr val="accent3"/>
          </a:solidFill>
          <a:ln w="12700">
            <a:solidFill>
              <a:schemeClr val="accent3"/>
            </a:solidFill>
            <a:prstDash val="solid"/>
          </a:ln>
        </p:spPr>
      </p:sp>
      <p:pic>
        <p:nvPicPr>
          <p:cNvPr id="8" name="icon" descr="preencoded.png">    </p:cNvPr>
          <p:cNvPicPr>
            <a:picLocks noChangeAspect="1"/>
          </p:cNvPicPr>
          <p:nvPr/>
        </p:nvPicPr>
        <p:blipFill>
          <a:blip r:embed="rId1"/>
          <a:stretch>
            <a:fillRect/>
          </a:stretch>
        </p:blipFill>
        <p:spPr>
          <a:xfrm>
            <a:off x="6177686" y="2062886"/>
            <a:ext cx="309067" cy="309067"/>
          </a:xfrm>
          <a:prstGeom prst="rect">
            <a:avLst/>
          </a:prstGeom>
        </p:spPr>
      </p:pic>
      <p:sp>
        <p:nvSpPr>
          <p:cNvPr id="9" name="Text 6"/>
          <p:cNvSpPr txBox="1"/>
          <p:nvPr/>
        </p:nvSpPr>
        <p:spPr>
          <a:xfrm>
            <a:off x="6812280" y="1920240"/>
            <a:ext cx="4846320" cy="59436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Smartwatch sleep and heart rate</a:t>
            </a:r>
            <a:endParaRPr lang="en-US" sz="1700" dirty="0"/>
          </a:p>
        </p:txBody>
      </p:sp>
      <p:sp>
        <p:nvSpPr>
          <p:cNvPr id="10" name="icon circle"/>
          <p:cNvSpPr/>
          <p:nvPr/>
        </p:nvSpPr>
        <p:spPr>
          <a:xfrm>
            <a:off x="6035040" y="2761488"/>
            <a:ext cx="594360" cy="594360"/>
          </a:xfrm>
          <a:prstGeom prst="ellipse">
            <a:avLst/>
          </a:prstGeom>
          <a:solidFill>
            <a:schemeClr val="accent5"/>
          </a:solidFill>
          <a:ln w="12700">
            <a:solidFill>
              <a:schemeClr val="accent5"/>
            </a:solidFill>
            <a:prstDash val="solid"/>
          </a:ln>
        </p:spPr>
      </p:sp>
      <p:pic>
        <p:nvPicPr>
          <p:cNvPr id="11" name="icon" descr="preencoded.png">    </p:cNvPr>
          <p:cNvPicPr>
            <a:picLocks noChangeAspect="1"/>
          </p:cNvPicPr>
          <p:nvPr/>
        </p:nvPicPr>
        <p:blipFill>
          <a:blip r:embed="rId2"/>
          <a:stretch>
            <a:fillRect/>
          </a:stretch>
        </p:blipFill>
        <p:spPr>
          <a:xfrm>
            <a:off x="6177686" y="2904134"/>
            <a:ext cx="309067" cy="309067"/>
          </a:xfrm>
          <a:prstGeom prst="rect">
            <a:avLst/>
          </a:prstGeom>
        </p:spPr>
      </p:pic>
      <p:sp>
        <p:nvSpPr>
          <p:cNvPr id="12" name="Text 8"/>
          <p:cNvSpPr txBox="1"/>
          <p:nvPr/>
        </p:nvSpPr>
        <p:spPr>
          <a:xfrm>
            <a:off x="6812280" y="2761488"/>
            <a:ext cx="4846320" cy="59436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Battery-powered necklace</a:t>
            </a:r>
            <a:endParaRPr lang="en-US" sz="1700" dirty="0"/>
          </a:p>
        </p:txBody>
      </p:sp>
      <p:sp>
        <p:nvSpPr>
          <p:cNvPr id="13" name="icon circle"/>
          <p:cNvSpPr/>
          <p:nvPr/>
        </p:nvSpPr>
        <p:spPr>
          <a:xfrm>
            <a:off x="6035040" y="3602736"/>
            <a:ext cx="594360" cy="594360"/>
          </a:xfrm>
          <a:prstGeom prst="ellipse">
            <a:avLst/>
          </a:prstGeom>
          <a:solidFill>
            <a:schemeClr val="accent1"/>
          </a:solidFill>
          <a:ln w="12700">
            <a:solidFill>
              <a:schemeClr val="accent1"/>
            </a:solidFill>
            <a:prstDash val="solid"/>
          </a:ln>
        </p:spPr>
      </p:sp>
      <p:pic>
        <p:nvPicPr>
          <p:cNvPr id="14" name="icon" descr="preencoded.png">    </p:cNvPr>
          <p:cNvPicPr>
            <a:picLocks noChangeAspect="1"/>
          </p:cNvPicPr>
          <p:nvPr/>
        </p:nvPicPr>
        <p:blipFill>
          <a:blip r:embed="rId3"/>
          <a:stretch>
            <a:fillRect/>
          </a:stretch>
        </p:blipFill>
        <p:spPr>
          <a:xfrm>
            <a:off x="6177686" y="3745382"/>
            <a:ext cx="309067" cy="309067"/>
          </a:xfrm>
          <a:prstGeom prst="rect">
            <a:avLst/>
          </a:prstGeom>
        </p:spPr>
      </p:pic>
      <p:sp>
        <p:nvSpPr>
          <p:cNvPr id="15" name="Text 10"/>
          <p:cNvSpPr txBox="1"/>
          <p:nvPr/>
        </p:nvSpPr>
        <p:spPr>
          <a:xfrm>
            <a:off x="6812280" y="3602736"/>
            <a:ext cx="4846320" cy="59436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Fully on-device AI (designed in Round 1)</a:t>
            </a:r>
            <a:endParaRPr lang="en-US" sz="1700" dirty="0"/>
          </a:p>
        </p:txBody>
      </p:sp>
      <p:sp>
        <p:nvSpPr>
          <p:cNvPr id="16" name="icon circle"/>
          <p:cNvSpPr/>
          <p:nvPr/>
        </p:nvSpPr>
        <p:spPr>
          <a:xfrm>
            <a:off x="6035040" y="4443984"/>
            <a:ext cx="594360" cy="594360"/>
          </a:xfrm>
          <a:prstGeom prst="ellipse">
            <a:avLst/>
          </a:prstGeom>
          <a:solidFill>
            <a:schemeClr val="accent4"/>
          </a:solidFill>
          <a:ln w="12700">
            <a:solidFill>
              <a:schemeClr val="accent4"/>
            </a:solidFill>
            <a:prstDash val="solid"/>
          </a:ln>
        </p:spPr>
      </p:sp>
      <p:pic>
        <p:nvPicPr>
          <p:cNvPr id="17" name="icon" descr="preencoded.png">    </p:cNvPr>
          <p:cNvPicPr>
            <a:picLocks noChangeAspect="1"/>
          </p:cNvPicPr>
          <p:nvPr/>
        </p:nvPicPr>
        <p:blipFill>
          <a:blip r:embed="rId4"/>
          <a:stretch>
            <a:fillRect/>
          </a:stretch>
        </p:blipFill>
        <p:spPr>
          <a:xfrm>
            <a:off x="6177686" y="4586630"/>
            <a:ext cx="309067" cy="309067"/>
          </a:xfrm>
          <a:prstGeom prst="rect">
            <a:avLst/>
          </a:prstGeom>
        </p:spPr>
      </p:pic>
      <p:sp>
        <p:nvSpPr>
          <p:cNvPr id="18" name="Text 12"/>
          <p:cNvSpPr txBox="1"/>
          <p:nvPr/>
        </p:nvSpPr>
        <p:spPr>
          <a:xfrm>
            <a:off x="6812280" y="4443984"/>
            <a:ext cx="4846320" cy="59436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Android app with gentle reminders</a:t>
            </a:r>
            <a:endParaRPr lang="en-US" sz="1700" dirty="0"/>
          </a:p>
        </p:txBody>
      </p:sp>
      <p:sp>
        <p:nvSpPr>
          <p:cNvPr id="19" name="icon circle"/>
          <p:cNvSpPr/>
          <p:nvPr/>
        </p:nvSpPr>
        <p:spPr>
          <a:xfrm>
            <a:off x="6035040" y="5285232"/>
            <a:ext cx="594360" cy="594360"/>
          </a:xfrm>
          <a:prstGeom prst="ellipse">
            <a:avLst/>
          </a:prstGeom>
          <a:solidFill>
            <a:schemeClr val="tx2"/>
          </a:solidFill>
          <a:ln w="12700">
            <a:solidFill>
              <a:schemeClr val="tx2"/>
            </a:solidFill>
            <a:prstDash val="solid"/>
          </a:ln>
        </p:spPr>
      </p:sp>
      <p:pic>
        <p:nvPicPr>
          <p:cNvPr id="20" name="icon" descr="preencoded.png">    </p:cNvPr>
          <p:cNvPicPr>
            <a:picLocks noChangeAspect="1"/>
          </p:cNvPicPr>
          <p:nvPr/>
        </p:nvPicPr>
        <p:blipFill>
          <a:blip r:embed="rId5"/>
          <a:stretch>
            <a:fillRect/>
          </a:stretch>
        </p:blipFill>
        <p:spPr>
          <a:xfrm>
            <a:off x="6177686" y="5427878"/>
            <a:ext cx="309067" cy="309067"/>
          </a:xfrm>
          <a:prstGeom prst="rect">
            <a:avLst/>
          </a:prstGeom>
        </p:spPr>
      </p:pic>
      <p:sp>
        <p:nvSpPr>
          <p:cNvPr id="21" name="Text 14"/>
          <p:cNvSpPr txBox="1"/>
          <p:nvPr/>
        </p:nvSpPr>
        <p:spPr>
          <a:xfrm>
            <a:off x="6812280" y="5285232"/>
            <a:ext cx="4846320" cy="59436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Pilot with our college's counselling cell</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glow"/>
          <p:cNvSpPr/>
          <p:nvPr/>
        </p:nvSpPr>
        <p:spPr>
          <a:xfrm>
            <a:off x="4727448" y="548640"/>
            <a:ext cx="2743200" cy="2743200"/>
          </a:xfrm>
          <a:prstGeom prst="ellipse">
            <a:avLst/>
          </a:prstGeom>
          <a:solidFill>
            <a:schemeClr val="accent1">
              <a:alpha val="35000"/>
            </a:schemeClr>
          </a:solidFill>
          <a:ln w="12700">
            <a:solidFill>
              <a:schemeClr val="accent1"/>
            </a:solidFill>
            <a:prstDash val="solid"/>
          </a:ln>
        </p:spPr>
      </p:sp>
      <p:pic>
        <p:nvPicPr>
          <p:cNvPr id="3" name="leaf" descr="preencoded.png">    </p:cNvPr>
          <p:cNvPicPr>
            <a:picLocks noChangeAspect="1"/>
          </p:cNvPicPr>
          <p:nvPr/>
        </p:nvPicPr>
        <p:blipFill>
          <a:blip r:embed="rId1"/>
          <a:stretch>
            <a:fillRect/>
          </a:stretch>
        </p:blipFill>
        <p:spPr>
          <a:xfrm>
            <a:off x="5550408" y="1371600"/>
            <a:ext cx="1097280" cy="1097280"/>
          </a:xfrm>
          <a:prstGeom prst="rect">
            <a:avLst/>
          </a:prstGeom>
        </p:spPr>
      </p:pic>
      <p:sp>
        <p:nvSpPr>
          <p:cNvPr id="4" name="Text 1"/>
          <p:cNvSpPr txBox="1"/>
          <p:nvPr/>
        </p:nvSpPr>
        <p:spPr>
          <a:xfrm>
            <a:off x="548640" y="3657600"/>
            <a:ext cx="11091672" cy="731520"/>
          </a:xfrm>
          <a:prstGeom prst="rect">
            <a:avLst/>
          </a:prstGeom>
          <a:noFill/>
          <a:ln/>
        </p:spPr>
        <p:txBody>
          <a:bodyPr wrap="square" lIns="0" tIns="0" rIns="0" bIns="0" rtlCol="0" anchor="t"/>
          <a:lstStyle/>
          <a:p>
            <a:pPr algn="ctr" indent="0" marL="0">
              <a:buNone/>
            </a:pPr>
            <a:r>
              <a:rPr lang="en-US" sz="3200" b="1" dirty="0">
                <a:solidFill>
                  <a:schemeClr val="bg1"/>
                </a:solidFill>
                <a:latin typeface="Cambria" pitchFamily="34" charset="0"/>
                <a:ea typeface="Cambria" pitchFamily="34" charset="-122"/>
                <a:cs typeface="Cambria" pitchFamily="34" charset="-120"/>
              </a:rPr>
              <a:t>Notice early. Understand yourself. Reach out.</a:t>
            </a:r>
            <a:endParaRPr lang="en-US" sz="3200" dirty="0"/>
          </a:p>
        </p:txBody>
      </p:sp>
      <p:sp>
        <p:nvSpPr>
          <p:cNvPr id="5" name="Text 2"/>
          <p:cNvSpPr txBox="1"/>
          <p:nvPr/>
        </p:nvSpPr>
        <p:spPr>
          <a:xfrm>
            <a:off x="548640" y="4434840"/>
            <a:ext cx="11091672" cy="457200"/>
          </a:xfrm>
          <a:prstGeom prst="rect">
            <a:avLst/>
          </a:prstGeom>
          <a:noFill/>
          <a:ln/>
        </p:spPr>
        <p:txBody>
          <a:bodyPr wrap="square" lIns="0" tIns="0" rIns="0" bIns="0" rtlCol="0" anchor="t"/>
          <a:lstStyle/>
          <a:p>
            <a:pPr algn="ctr" indent="0" marL="0">
              <a:buNone/>
            </a:pPr>
            <a:r>
              <a:rPr lang="en-US" sz="2000" dirty="0">
                <a:solidFill>
                  <a:schemeClr val="accent6"/>
                </a:solidFill>
                <a:latin typeface="Calibri" pitchFamily="34" charset="0"/>
                <a:ea typeface="Calibri" pitchFamily="34" charset="-122"/>
                <a:cs typeface="Calibri" pitchFamily="34" charset="-120"/>
              </a:rPr>
              <a:t>Thank you. We'd love your questions.</a:t>
            </a:r>
            <a:endParaRPr lang="en-US" sz="2000" dirty="0"/>
          </a:p>
        </p:txBody>
      </p:sp>
      <p:sp>
        <p:nvSpPr>
          <p:cNvPr id="6" name="Text 3"/>
          <p:cNvSpPr txBox="1"/>
          <p:nvPr/>
        </p:nvSpPr>
        <p:spPr>
          <a:xfrm>
            <a:off x="548640" y="5257800"/>
            <a:ext cx="11091672" cy="365760"/>
          </a:xfrm>
          <a:prstGeom prst="rect">
            <a:avLst/>
          </a:prstGeom>
          <a:noFill/>
          <a:ln/>
        </p:spPr>
        <p:txBody>
          <a:bodyPr wrap="square" lIns="0" tIns="0" rIns="0" bIns="0" rtlCol="0" anchor="t"/>
          <a:lstStyle/>
          <a:p>
            <a:pPr algn="ctr" indent="0" marL="0">
              <a:buNone/>
            </a:pPr>
            <a:r>
              <a:rPr lang="en-US" sz="1400" dirty="0">
                <a:solidFill>
                  <a:schemeClr val="accent2"/>
                </a:solidFill>
                <a:latin typeface="Calibri" pitchFamily="34" charset="0"/>
                <a:ea typeface="Calibri" pitchFamily="34" charset="-122"/>
                <a:cs typeface="Calibri" pitchFamily="34" charset="-120"/>
              </a:rPr>
              <a:t>MindMirror · Team HTTP Dino · K S Pankaj, Merel Riha Dsouza, A B Kishore Krishna</a:t>
            </a:r>
            <a:endParaRPr lang="en-US" sz="1400" dirty="0"/>
          </a:p>
        </p:txBody>
      </p:sp>
      <p:sp>
        <p:nvSpPr>
          <p:cNvPr id="7" name="Text 4"/>
          <p:cNvSpPr txBox="1"/>
          <p:nvPr/>
        </p:nvSpPr>
        <p:spPr>
          <a:xfrm>
            <a:off x="548640" y="5806440"/>
            <a:ext cx="11091672" cy="365760"/>
          </a:xfrm>
          <a:prstGeom prst="rect">
            <a:avLst/>
          </a:prstGeom>
          <a:noFill/>
          <a:ln/>
        </p:spPr>
        <p:txBody>
          <a:bodyPr wrap="square" lIns="0" tIns="0" rIns="0" bIns="0" rtlCol="0" anchor="t"/>
          <a:lstStyle/>
          <a:p>
            <a:pPr algn="ctr" indent="0" marL="0">
              <a:buNone/>
            </a:pPr>
            <a:r>
              <a:rPr lang="en-US" sz="1300" i="1" dirty="0">
                <a:solidFill>
                  <a:schemeClr val="accent6"/>
                </a:solidFill>
                <a:latin typeface="Calibri" pitchFamily="34" charset="0"/>
                <a:ea typeface="Calibri" pitchFamily="34" charset="-122"/>
                <a:cs typeface="Calibri" pitchFamily="34" charset="-120"/>
              </a:rPr>
              <a:t>If you or someone you know is struggling: Tele-MANAS 14416 (free, 24×7) · Emergency 112</a:t>
            </a:r>
            <a:endParaRPr lang="en-US" sz="1300" dirty="0"/>
          </a:p>
        </p:txBody>
      </p:sp>
    </p:spTree>
  </p:cSld>
  <p:clrMapOvr>
    <a:masterClrMapping/>
  </p:clrMapOvr>
</p:sld>
</file>

<file path=ppt/theme/theme1.xml><?xml version="1.0" encoding="utf-8"?>
<a:theme xmlns:a="http://schemas.openxmlformats.org/drawingml/2006/main" name="MindMirror Sukoon">
  <a:themeElements>
    <a:clrScheme name="MindMirror Sukoon">
      <a:dk1>
        <a:srgbClr val="2B2D42"/>
      </a:dk1>
      <a:lt1>
        <a:srgbClr val="FFFFFF"/>
      </a:lt1>
      <a:dk2>
        <a:srgbClr val="1F2459"/>
      </a:dk2>
      <a:lt2>
        <a:srgbClr val="F4F5FB"/>
      </a:lt2>
      <a:accent1>
        <a:srgbClr val="4F5BD5"/>
      </a:accent1>
      <a:accent2>
        <a:srgbClr val="8FB9A8"/>
      </a:accent2>
      <a:accent3>
        <a:srgbClr val="E8836B"/>
      </a:accent3>
      <a:accent4>
        <a:srgbClr val="E0A94A"/>
      </a:accent4>
      <a:accent5>
        <a:srgbClr val="4E8A75"/>
      </a:accent5>
      <a:accent6>
        <a:srgbClr val="C9CDF2"/>
      </a:accent6>
      <a:hlink>
        <a:srgbClr val="4F5BD5"/>
      </a:hlink>
      <a:folHlink>
        <a:srgbClr val="1F2459"/>
      </a:folHlink>
    </a:clrScheme>
    <a:fontScheme name="MindMirror Suko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MindMirror: final presentation</dc:title>
  <dc:subject>PptxGenJS Presentation</dc:subject>
  <dc:creator>Team HTTP Dino</dc:creator>
  <cp:lastModifiedBy>Team HTTP Dino</cp:lastModifiedBy>
  <cp:revision>1</cp:revision>
  <dcterms:created xsi:type="dcterms:W3CDTF">2026-10-30T19:05:13Z</dcterms:created>
  <dcterms:modified xsi:type="dcterms:W3CDTF">2026-10-30T19:05:13Z</dcterms:modified>
</cp:coreProperties>
</file>